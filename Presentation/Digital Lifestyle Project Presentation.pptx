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69" r:id="rId2"/>
    <p:sldId id="268" r:id="rId3"/>
    <p:sldId id="274" r:id="rId4"/>
    <p:sldId id="272" r:id="rId5"/>
    <p:sldId id="281" r:id="rId6"/>
    <p:sldId id="273" r:id="rId7"/>
    <p:sldId id="275" r:id="rId8"/>
    <p:sldId id="276" r:id="rId9"/>
    <p:sldId id="278" r:id="rId10"/>
    <p:sldId id="279" r:id="rId11"/>
    <p:sldId id="280" r:id="rId12"/>
    <p:sldId id="277" r:id="rId13"/>
    <p:sldId id="271" r:id="rId14"/>
    <p:sldId id="270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jOmBtk5DbvnkierGKxpb4ZbKw0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EA8"/>
    <a:srgbClr val="047954"/>
    <a:srgbClr val="D7B119"/>
    <a:srgbClr val="F4F9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1" name="Google Shape;5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8"/>
          <p:cNvSpPr/>
          <p:nvPr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" name="Google Shape;13;p1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Google Shape;1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2A7870-9DD9-A2F7-2854-ADE0624975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pic>
        <p:nvPicPr>
          <p:cNvPr id="4" name="Google Shape;110;p1">
            <a:extLst>
              <a:ext uri="{FF2B5EF4-FFF2-40B4-BE49-F238E27FC236}">
                <a16:creationId xmlns:a16="http://schemas.microsoft.com/office/drawing/2014/main" id="{26C40AEC-A3EC-E7B6-4843-D33615FC58F2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01111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5">
            <a:extLst>
              <a:ext uri="{FF2B5EF4-FFF2-40B4-BE49-F238E27FC236}">
                <a16:creationId xmlns:a16="http://schemas.microsoft.com/office/drawing/2014/main" id="{56E1B1F5-A87B-D70A-546E-E02D8FE421F4}"/>
              </a:ext>
            </a:extLst>
          </p:cNvPr>
          <p:cNvSpPr/>
          <p:nvPr/>
        </p:nvSpPr>
        <p:spPr>
          <a:xfrm>
            <a:off x="305" y="1660814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33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</a:t>
            </a:r>
            <a:endParaRPr lang="en-US" sz="1600" dirty="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046A698D-B689-FE92-18E1-FDCADBF29036}"/>
              </a:ext>
            </a:extLst>
          </p:cNvPr>
          <p:cNvSpPr/>
          <p:nvPr/>
        </p:nvSpPr>
        <p:spPr>
          <a:xfrm>
            <a:off x="731672" y="2026574"/>
            <a:ext cx="1072865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Lifestyle &amp; Mental Health Analytics</a:t>
            </a:r>
            <a:endParaRPr lang="en-US" sz="4000" dirty="0"/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2FD8623-201C-EE7B-3C2F-5482AC5769A7}"/>
              </a:ext>
            </a:extLst>
          </p:cNvPr>
          <p:cNvSpPr/>
          <p:nvPr/>
        </p:nvSpPr>
        <p:spPr>
          <a:xfrm>
            <a:off x="5547207" y="2893354"/>
            <a:ext cx="1097280" cy="54864"/>
          </a:xfrm>
          <a:prstGeom prst="rect">
            <a:avLst/>
          </a:prstGeom>
          <a:solidFill>
            <a:srgbClr val="D7B11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140F0DA6-DEBD-1340-BDAE-A5728A5F09FA}"/>
              </a:ext>
            </a:extLst>
          </p:cNvPr>
          <p:cNvSpPr/>
          <p:nvPr/>
        </p:nvSpPr>
        <p:spPr>
          <a:xfrm>
            <a:off x="1463039" y="3072436"/>
            <a:ext cx="92656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digital-behavior survey data into mental-health risk insights through Python, a Star Schema data model, and an interactive Power BI dashboard</a:t>
            </a:r>
            <a:endParaRPr lang="en-US" sz="150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A8CBC234-ED76-4799-02D7-117B4A834EB2}"/>
              </a:ext>
            </a:extLst>
          </p:cNvPr>
          <p:cNvSpPr/>
          <p:nvPr/>
        </p:nvSpPr>
        <p:spPr>
          <a:xfrm>
            <a:off x="1596388" y="4279444"/>
            <a:ext cx="8998918" cy="1229283"/>
          </a:xfrm>
          <a:prstGeom prst="roundRect">
            <a:avLst>
              <a:gd name="adj" fmla="val 7619"/>
            </a:avLst>
          </a:prstGeom>
          <a:solidFill>
            <a:srgbClr val="F4F9F7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sz="150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</a:p>
          <a:p>
            <a:pPr algn="ctr"/>
            <a:r>
              <a:rPr lang="en-US" sz="15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Hassan - Hamza Bayoumi - Khlood Ahmed- Malak Tamer - Salma Mohamed - Istabraq El Gendy</a:t>
            </a:r>
          </a:p>
          <a:p>
            <a:r>
              <a:rPr lang="en-US" sz="1500" b="1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</a:t>
            </a:r>
          </a:p>
          <a:p>
            <a:pPr algn="ctr"/>
            <a:r>
              <a:rPr lang="en-US" sz="15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Mohamed Emam</a:t>
            </a:r>
          </a:p>
          <a:p>
            <a:pPr algn="ctr"/>
            <a:endParaRPr lang="en-US" sz="1500" i="1" dirty="0">
              <a:solidFill>
                <a:srgbClr val="5A5A5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GB" dirty="0"/>
          </a:p>
        </p:txBody>
      </p:sp>
      <p:sp>
        <p:nvSpPr>
          <p:cNvPr id="10" name="Text 49">
            <a:extLst>
              <a:ext uri="{FF2B5EF4-FFF2-40B4-BE49-F238E27FC236}">
                <a16:creationId xmlns:a16="http://schemas.microsoft.com/office/drawing/2014/main" id="{08F1DE7D-EEEB-D76E-A998-440BFC28D23A}"/>
              </a:ext>
            </a:extLst>
          </p:cNvPr>
          <p:cNvSpPr/>
          <p:nvPr/>
        </p:nvSpPr>
        <p:spPr>
          <a:xfrm>
            <a:off x="1056298" y="6356350"/>
            <a:ext cx="2296502" cy="365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ar-EG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</a:t>
            </a:r>
            <a:r>
              <a:rPr lang="en-US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/07/2026</a:t>
            </a:r>
          </a:p>
        </p:txBody>
      </p:sp>
    </p:spTree>
    <p:extLst>
      <p:ext uri="{BB962C8B-B14F-4D97-AF65-F5344CB8AC3E}">
        <p14:creationId xmlns:p14="http://schemas.microsoft.com/office/powerpoint/2010/main" val="1464331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1491C8-91B4-758A-5FC9-91C5E06BE1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pic>
        <p:nvPicPr>
          <p:cNvPr id="4" name="Google Shape;110;p1">
            <a:extLst>
              <a:ext uri="{FF2B5EF4-FFF2-40B4-BE49-F238E27FC236}">
                <a16:creationId xmlns:a16="http://schemas.microsoft.com/office/drawing/2014/main" id="{7279A019-15C0-D982-152D-9C0D914FAD29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6">
            <a:extLst>
              <a:ext uri="{FF2B5EF4-FFF2-40B4-BE49-F238E27FC236}">
                <a16:creationId xmlns:a16="http://schemas.microsoft.com/office/drawing/2014/main" id="{C9B7229D-0ED4-1D30-2F79-12EB5135CA1C}"/>
              </a:ext>
            </a:extLst>
          </p:cNvPr>
          <p:cNvSpPr/>
          <p:nvPr/>
        </p:nvSpPr>
        <p:spPr>
          <a:xfrm>
            <a:off x="320040" y="1051560"/>
            <a:ext cx="11551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</a:t>
            </a:r>
            <a:endParaRPr lang="en-US" sz="3000" dirty="0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F4EBD8E4-C7F7-6888-F79E-D57FACE641D7}"/>
              </a:ext>
            </a:extLst>
          </p:cNvPr>
          <p:cNvSpPr/>
          <p:nvPr/>
        </p:nvSpPr>
        <p:spPr>
          <a:xfrm>
            <a:off x="338328" y="1645920"/>
            <a:ext cx="822960" cy="54864"/>
          </a:xfrm>
          <a:prstGeom prst="rect">
            <a:avLst/>
          </a:prstGeom>
          <a:solidFill>
            <a:srgbClr val="D7B11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E1FB034F-7B2B-98EF-7A85-C0517339B465}"/>
              </a:ext>
            </a:extLst>
          </p:cNvPr>
          <p:cNvSpPr/>
          <p:nvPr/>
        </p:nvSpPr>
        <p:spPr>
          <a:xfrm>
            <a:off x="320040" y="2331720"/>
            <a:ext cx="3667658" cy="3566160"/>
          </a:xfrm>
          <a:prstGeom prst="roundRect">
            <a:avLst>
              <a:gd name="adj" fmla="val 2051"/>
            </a:avLst>
          </a:prstGeom>
          <a:solidFill>
            <a:srgbClr val="F4F9F7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sz="1800"/>
          </a:p>
        </p:txBody>
      </p:sp>
      <p:sp>
        <p:nvSpPr>
          <p:cNvPr id="8" name="Shape 9">
            <a:extLst>
              <a:ext uri="{FF2B5EF4-FFF2-40B4-BE49-F238E27FC236}">
                <a16:creationId xmlns:a16="http://schemas.microsoft.com/office/drawing/2014/main" id="{1D8611AB-D6E4-6737-1914-C2767ADC5620}"/>
              </a:ext>
            </a:extLst>
          </p:cNvPr>
          <p:cNvSpPr/>
          <p:nvPr/>
        </p:nvSpPr>
        <p:spPr>
          <a:xfrm>
            <a:off x="320040" y="2331720"/>
            <a:ext cx="3667658" cy="82296"/>
          </a:xfrm>
          <a:prstGeom prst="rect">
            <a:avLst/>
          </a:prstGeom>
          <a:solidFill>
            <a:srgbClr val="047954"/>
          </a:solidFill>
          <a:ln/>
        </p:spPr>
        <p:txBody>
          <a:bodyPr/>
          <a:lstStyle/>
          <a:p>
            <a:endParaRPr lang="en-GB" sz="1800"/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B284F631-0C19-351B-0C2E-D8EBE1771EE3}"/>
              </a:ext>
            </a:extLst>
          </p:cNvPr>
          <p:cNvSpPr/>
          <p:nvPr/>
        </p:nvSpPr>
        <p:spPr>
          <a:xfrm>
            <a:off x="548640" y="2587752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E7081EA4-BE50-B3F4-955A-6A2E343C70D5}"/>
              </a:ext>
            </a:extLst>
          </p:cNvPr>
          <p:cNvSpPr/>
          <p:nvPr/>
        </p:nvSpPr>
        <p:spPr>
          <a:xfrm>
            <a:off x="548640" y="3108960"/>
            <a:ext cx="321045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smartphone and social media use is widely linked to worsening mental health, yet which specific digital behaviors most strongly drive depression, anxiety and stress remains unclear across demographic groups.</a:t>
            </a:r>
            <a:endParaRPr lang="en-US" sz="1600" dirty="0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1A9E36D2-164C-2471-5825-6B2CF3F71DA9}"/>
              </a:ext>
            </a:extLst>
          </p:cNvPr>
          <p:cNvSpPr/>
          <p:nvPr/>
        </p:nvSpPr>
        <p:spPr>
          <a:xfrm>
            <a:off x="4262018" y="2331720"/>
            <a:ext cx="3667658" cy="3566160"/>
          </a:xfrm>
          <a:prstGeom prst="roundRect">
            <a:avLst>
              <a:gd name="adj" fmla="val 2051"/>
            </a:avLst>
          </a:prstGeom>
          <a:solidFill>
            <a:srgbClr val="F4F9F7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sz="180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857B0D77-9E1F-EE56-53A5-C34B463C507A}"/>
              </a:ext>
            </a:extLst>
          </p:cNvPr>
          <p:cNvSpPr/>
          <p:nvPr/>
        </p:nvSpPr>
        <p:spPr>
          <a:xfrm>
            <a:off x="4262018" y="2331720"/>
            <a:ext cx="3667658" cy="82296"/>
          </a:xfrm>
          <a:prstGeom prst="rect">
            <a:avLst/>
          </a:prstGeom>
          <a:solidFill>
            <a:srgbClr val="336EA8"/>
          </a:solidFill>
          <a:ln/>
        </p:spPr>
        <p:txBody>
          <a:bodyPr/>
          <a:lstStyle/>
          <a:p>
            <a:endParaRPr lang="en-GB" sz="1800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AB1E357F-843B-3BF2-E3FE-9F28E687EF84}"/>
              </a:ext>
            </a:extLst>
          </p:cNvPr>
          <p:cNvSpPr/>
          <p:nvPr/>
        </p:nvSpPr>
        <p:spPr>
          <a:xfrm>
            <a:off x="4490618" y="2587752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3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000" dirty="0"/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21303095-37C0-5985-8D27-7BA0A9931A0E}"/>
              </a:ext>
            </a:extLst>
          </p:cNvPr>
          <p:cNvSpPr/>
          <p:nvPr/>
        </p:nvSpPr>
        <p:spPr>
          <a:xfrm>
            <a:off x="4490618" y="3108960"/>
            <a:ext cx="321045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analytics workflow: clean and model the 100,000-respondent Digital Lifestyle Benchmark Dataset with Python and a Star Schema, then surface findings through an interactive 1</a:t>
            </a:r>
            <a:r>
              <a:rPr lang="ar-EG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-page Power BI dashboard.</a:t>
            </a:r>
            <a:endParaRPr lang="en-US" sz="1600" dirty="0"/>
          </a:p>
        </p:txBody>
      </p:sp>
      <p:sp>
        <p:nvSpPr>
          <p:cNvPr id="15" name="Shape 16">
            <a:extLst>
              <a:ext uri="{FF2B5EF4-FFF2-40B4-BE49-F238E27FC236}">
                <a16:creationId xmlns:a16="http://schemas.microsoft.com/office/drawing/2014/main" id="{165A1488-43CB-9993-0FC0-433EEF4D12A3}"/>
              </a:ext>
            </a:extLst>
          </p:cNvPr>
          <p:cNvSpPr/>
          <p:nvPr/>
        </p:nvSpPr>
        <p:spPr>
          <a:xfrm>
            <a:off x="8203997" y="2331720"/>
            <a:ext cx="3667658" cy="3566160"/>
          </a:xfrm>
          <a:prstGeom prst="roundRect">
            <a:avLst>
              <a:gd name="adj" fmla="val 2051"/>
            </a:avLst>
          </a:prstGeom>
          <a:solidFill>
            <a:srgbClr val="F4F9F7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sz="1800"/>
          </a:p>
        </p:txBody>
      </p:sp>
      <p:sp>
        <p:nvSpPr>
          <p:cNvPr id="16" name="Shape 17">
            <a:extLst>
              <a:ext uri="{FF2B5EF4-FFF2-40B4-BE49-F238E27FC236}">
                <a16:creationId xmlns:a16="http://schemas.microsoft.com/office/drawing/2014/main" id="{5632BC01-5FA7-2BE7-8929-4097A2E9B668}"/>
              </a:ext>
            </a:extLst>
          </p:cNvPr>
          <p:cNvSpPr/>
          <p:nvPr/>
        </p:nvSpPr>
        <p:spPr>
          <a:xfrm>
            <a:off x="8203997" y="2331720"/>
            <a:ext cx="3667658" cy="82296"/>
          </a:xfrm>
          <a:prstGeom prst="rect">
            <a:avLst/>
          </a:prstGeom>
          <a:solidFill>
            <a:srgbClr val="D7B119"/>
          </a:solidFill>
          <a:ln/>
        </p:spPr>
        <p:txBody>
          <a:bodyPr/>
          <a:lstStyle/>
          <a:p>
            <a:endParaRPr lang="en-GB" sz="1800"/>
          </a:p>
        </p:txBody>
      </p:sp>
      <p:sp>
        <p:nvSpPr>
          <p:cNvPr id="17" name="Text 18">
            <a:extLst>
              <a:ext uri="{FF2B5EF4-FFF2-40B4-BE49-F238E27FC236}">
                <a16:creationId xmlns:a16="http://schemas.microsoft.com/office/drawing/2014/main" id="{457DFC59-E37A-7E08-3751-812892301C2D}"/>
              </a:ext>
            </a:extLst>
          </p:cNvPr>
          <p:cNvSpPr/>
          <p:nvPr/>
        </p:nvSpPr>
        <p:spPr>
          <a:xfrm>
            <a:off x="8432597" y="2587752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7B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Value</a:t>
            </a:r>
            <a:endParaRPr lang="en-US" sz="2000" dirty="0"/>
          </a:p>
        </p:txBody>
      </p:sp>
      <p:sp>
        <p:nvSpPr>
          <p:cNvPr id="18" name="Text 19">
            <a:extLst>
              <a:ext uri="{FF2B5EF4-FFF2-40B4-BE49-F238E27FC236}">
                <a16:creationId xmlns:a16="http://schemas.microsoft.com/office/drawing/2014/main" id="{63952411-135F-8AB7-6F6A-7400D7EC11B1}"/>
              </a:ext>
            </a:extLst>
          </p:cNvPr>
          <p:cNvSpPr/>
          <p:nvPr/>
        </p:nvSpPr>
        <p:spPr>
          <a:xfrm>
            <a:off x="8432597" y="3108960"/>
            <a:ext cx="3210458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validated, zero-missing / zero-duplicate dataset with engineered risk features that flags the 20.1% of respondents at high risk and translates findings into actionable digital-wellness recommendations.</a:t>
            </a:r>
            <a:endParaRPr lang="en-US" sz="1600" dirty="0"/>
          </a:p>
        </p:txBody>
      </p:sp>
      <p:sp>
        <p:nvSpPr>
          <p:cNvPr id="19" name="Text 49">
            <a:extLst>
              <a:ext uri="{FF2B5EF4-FFF2-40B4-BE49-F238E27FC236}">
                <a16:creationId xmlns:a16="http://schemas.microsoft.com/office/drawing/2014/main" id="{0172C963-691A-060B-1968-F6D97479ED19}"/>
              </a:ext>
            </a:extLst>
          </p:cNvPr>
          <p:cNvSpPr/>
          <p:nvPr/>
        </p:nvSpPr>
        <p:spPr>
          <a:xfrm>
            <a:off x="1056298" y="6356350"/>
            <a:ext cx="2296502" cy="365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ar-EG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</a:t>
            </a:r>
            <a:r>
              <a:rPr lang="en-US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/07/2026</a:t>
            </a:r>
          </a:p>
        </p:txBody>
      </p:sp>
    </p:spTree>
    <p:extLst>
      <p:ext uri="{BB962C8B-B14F-4D97-AF65-F5344CB8AC3E}">
        <p14:creationId xmlns:p14="http://schemas.microsoft.com/office/powerpoint/2010/main" val="1425446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0E54D4-252F-4FA5-6FAC-DDBC291FAA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pic>
        <p:nvPicPr>
          <p:cNvPr id="4" name="Google Shape;110;p1">
            <a:extLst>
              <a:ext uri="{FF2B5EF4-FFF2-40B4-BE49-F238E27FC236}">
                <a16:creationId xmlns:a16="http://schemas.microsoft.com/office/drawing/2014/main" id="{496FA283-A70F-1A99-56AE-0557F49B6A48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6">
            <a:extLst>
              <a:ext uri="{FF2B5EF4-FFF2-40B4-BE49-F238E27FC236}">
                <a16:creationId xmlns:a16="http://schemas.microsoft.com/office/drawing/2014/main" id="{AA7E7E2D-7684-DF38-745B-703866E37286}"/>
              </a:ext>
            </a:extLst>
          </p:cNvPr>
          <p:cNvSpPr/>
          <p:nvPr/>
        </p:nvSpPr>
        <p:spPr>
          <a:xfrm>
            <a:off x="320040" y="1051560"/>
            <a:ext cx="11551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Wireframes</a:t>
            </a:r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829B3E6F-7272-5BB4-CE74-1B4A4F43BE47}"/>
              </a:ext>
            </a:extLst>
          </p:cNvPr>
          <p:cNvSpPr/>
          <p:nvPr/>
        </p:nvSpPr>
        <p:spPr>
          <a:xfrm>
            <a:off x="338328" y="1645920"/>
            <a:ext cx="822960" cy="54864"/>
          </a:xfrm>
          <a:prstGeom prst="rect">
            <a:avLst/>
          </a:prstGeom>
          <a:solidFill>
            <a:srgbClr val="D7B11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6" name="Text 2">
            <a:extLst>
              <a:ext uri="{FF2B5EF4-FFF2-40B4-BE49-F238E27FC236}">
                <a16:creationId xmlns:a16="http://schemas.microsoft.com/office/drawing/2014/main" id="{3C729346-C098-ACC4-6966-99FD654C3E1F}"/>
              </a:ext>
            </a:extLst>
          </p:cNvPr>
          <p:cNvSpPr/>
          <p:nvPr/>
        </p:nvSpPr>
        <p:spPr>
          <a:xfrm>
            <a:off x="833119" y="1984587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21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Pages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Shape 3">
            <a:extLst>
              <a:ext uri="{FF2B5EF4-FFF2-40B4-BE49-F238E27FC236}">
                <a16:creationId xmlns:a16="http://schemas.microsoft.com/office/drawing/2014/main" id="{7A7C6921-059A-3C3A-5EAF-06756B4579AD}"/>
              </a:ext>
            </a:extLst>
          </p:cNvPr>
          <p:cNvSpPr/>
          <p:nvPr/>
        </p:nvSpPr>
        <p:spPr>
          <a:xfrm>
            <a:off x="833120" y="2377779"/>
            <a:ext cx="1691640" cy="512064"/>
          </a:xfrm>
          <a:prstGeom prst="rect">
            <a:avLst/>
          </a:prstGeom>
          <a:solidFill>
            <a:srgbClr val="F4F9F7"/>
          </a:solidFill>
          <a:ln/>
          <a:effectLst>
            <a:outerShdw blurRad="88900" dist="38100" dir="5400000" algn="bl" rotWithShape="0">
              <a:srgbClr val="1B2E28">
                <a:alpha val="12000"/>
              </a:srgbClr>
            </a:outerShdw>
          </a:effectLst>
        </p:spPr>
        <p:txBody>
          <a:bodyPr/>
          <a:lstStyle/>
          <a:p>
            <a:endParaRPr lang="en-GB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Shape 4">
            <a:extLst>
              <a:ext uri="{FF2B5EF4-FFF2-40B4-BE49-F238E27FC236}">
                <a16:creationId xmlns:a16="http://schemas.microsoft.com/office/drawing/2014/main" id="{7DD1E55A-91BB-04D9-5627-CBA7FCE34698}"/>
              </a:ext>
            </a:extLst>
          </p:cNvPr>
          <p:cNvSpPr/>
          <p:nvPr/>
        </p:nvSpPr>
        <p:spPr>
          <a:xfrm>
            <a:off x="915416" y="2524083"/>
            <a:ext cx="219456" cy="219456"/>
          </a:xfrm>
          <a:prstGeom prst="ellipse">
            <a:avLst/>
          </a:prstGeom>
          <a:solidFill>
            <a:srgbClr val="047954"/>
          </a:solidFill>
          <a:ln/>
        </p:spPr>
        <p:txBody>
          <a:bodyPr/>
          <a:lstStyle/>
          <a:p>
            <a:endParaRPr lang="en-GB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Text 5">
            <a:extLst>
              <a:ext uri="{FF2B5EF4-FFF2-40B4-BE49-F238E27FC236}">
                <a16:creationId xmlns:a16="http://schemas.microsoft.com/office/drawing/2014/main" id="{188E10A8-ADF0-85CB-7E7D-FEB930F2DFA8}"/>
              </a:ext>
            </a:extLst>
          </p:cNvPr>
          <p:cNvSpPr/>
          <p:nvPr/>
        </p:nvSpPr>
        <p:spPr>
          <a:xfrm>
            <a:off x="915416" y="252408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Text 6">
            <a:extLst>
              <a:ext uri="{FF2B5EF4-FFF2-40B4-BE49-F238E27FC236}">
                <a16:creationId xmlns:a16="http://schemas.microsoft.com/office/drawing/2014/main" id="{E2C072D0-6D13-5A93-AAB2-80BEC9E18BC1}"/>
              </a:ext>
            </a:extLst>
          </p:cNvPr>
          <p:cNvSpPr/>
          <p:nvPr/>
        </p:nvSpPr>
        <p:spPr>
          <a:xfrm>
            <a:off x="1180592" y="2377779"/>
            <a:ext cx="1271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221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Executive Summary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Shape 7">
            <a:extLst>
              <a:ext uri="{FF2B5EF4-FFF2-40B4-BE49-F238E27FC236}">
                <a16:creationId xmlns:a16="http://schemas.microsoft.com/office/drawing/2014/main" id="{FFECDF22-FB51-82DB-4299-77032B52DF0D}"/>
              </a:ext>
            </a:extLst>
          </p:cNvPr>
          <p:cNvSpPr/>
          <p:nvPr/>
        </p:nvSpPr>
        <p:spPr>
          <a:xfrm>
            <a:off x="2643632" y="2377779"/>
            <a:ext cx="1691640" cy="512064"/>
          </a:xfrm>
          <a:prstGeom prst="rect">
            <a:avLst/>
          </a:prstGeom>
          <a:solidFill>
            <a:srgbClr val="F4F9F7"/>
          </a:solidFill>
          <a:ln/>
          <a:effectLst>
            <a:outerShdw blurRad="88900" dist="38100" dir="5400000" algn="bl" rotWithShape="0">
              <a:srgbClr val="1B2E28">
                <a:alpha val="12000"/>
              </a:srgbClr>
            </a:outerShdw>
          </a:effectLst>
        </p:spPr>
        <p:txBody>
          <a:bodyPr/>
          <a:lstStyle/>
          <a:p>
            <a:endParaRPr lang="en-GB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Shape 8">
            <a:extLst>
              <a:ext uri="{FF2B5EF4-FFF2-40B4-BE49-F238E27FC236}">
                <a16:creationId xmlns:a16="http://schemas.microsoft.com/office/drawing/2014/main" id="{D625AE54-6F6E-B013-82B2-A929F50D69C1}"/>
              </a:ext>
            </a:extLst>
          </p:cNvPr>
          <p:cNvSpPr/>
          <p:nvPr/>
        </p:nvSpPr>
        <p:spPr>
          <a:xfrm>
            <a:off x="2725928" y="2524083"/>
            <a:ext cx="219456" cy="219456"/>
          </a:xfrm>
          <a:prstGeom prst="ellipse">
            <a:avLst/>
          </a:prstGeom>
          <a:solidFill>
            <a:srgbClr val="0FAB7D"/>
          </a:solidFill>
          <a:ln/>
        </p:spPr>
        <p:txBody>
          <a:bodyPr/>
          <a:lstStyle/>
          <a:p>
            <a:endParaRPr lang="en-GB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Text 9">
            <a:extLst>
              <a:ext uri="{FF2B5EF4-FFF2-40B4-BE49-F238E27FC236}">
                <a16:creationId xmlns:a16="http://schemas.microsoft.com/office/drawing/2014/main" id="{801676B7-BD98-052B-0C2C-381B91F1F64F}"/>
              </a:ext>
            </a:extLst>
          </p:cNvPr>
          <p:cNvSpPr/>
          <p:nvPr/>
        </p:nvSpPr>
        <p:spPr>
          <a:xfrm>
            <a:off x="2725928" y="252408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02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Text 10">
            <a:extLst>
              <a:ext uri="{FF2B5EF4-FFF2-40B4-BE49-F238E27FC236}">
                <a16:creationId xmlns:a16="http://schemas.microsoft.com/office/drawing/2014/main" id="{531FBD9B-2CDD-73C1-5BCB-C9663C35C76C}"/>
              </a:ext>
            </a:extLst>
          </p:cNvPr>
          <p:cNvSpPr/>
          <p:nvPr/>
        </p:nvSpPr>
        <p:spPr>
          <a:xfrm>
            <a:off x="2991104" y="2377779"/>
            <a:ext cx="1271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221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Demographics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Shape 11">
            <a:extLst>
              <a:ext uri="{FF2B5EF4-FFF2-40B4-BE49-F238E27FC236}">
                <a16:creationId xmlns:a16="http://schemas.microsoft.com/office/drawing/2014/main" id="{BF2C5E59-729F-0DDE-4DA5-D0C2CA35C1D9}"/>
              </a:ext>
            </a:extLst>
          </p:cNvPr>
          <p:cNvSpPr/>
          <p:nvPr/>
        </p:nvSpPr>
        <p:spPr>
          <a:xfrm>
            <a:off x="4454144" y="2377779"/>
            <a:ext cx="1691640" cy="512064"/>
          </a:xfrm>
          <a:prstGeom prst="rect">
            <a:avLst/>
          </a:prstGeom>
          <a:solidFill>
            <a:srgbClr val="F4F9F7"/>
          </a:solidFill>
          <a:ln/>
          <a:effectLst>
            <a:outerShdw blurRad="88900" dist="38100" dir="5400000" algn="bl" rotWithShape="0">
              <a:srgbClr val="1B2E28">
                <a:alpha val="12000"/>
              </a:srgbClr>
            </a:outerShdw>
          </a:effectLst>
        </p:spPr>
        <p:txBody>
          <a:bodyPr/>
          <a:lstStyle/>
          <a:p>
            <a:endParaRPr lang="en-GB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Shape 12">
            <a:extLst>
              <a:ext uri="{FF2B5EF4-FFF2-40B4-BE49-F238E27FC236}">
                <a16:creationId xmlns:a16="http://schemas.microsoft.com/office/drawing/2014/main" id="{EAB27839-BFC9-51E4-3B83-17A074508C7F}"/>
              </a:ext>
            </a:extLst>
          </p:cNvPr>
          <p:cNvSpPr/>
          <p:nvPr/>
        </p:nvSpPr>
        <p:spPr>
          <a:xfrm>
            <a:off x="4536440" y="2524083"/>
            <a:ext cx="219456" cy="219456"/>
          </a:xfrm>
          <a:prstGeom prst="ellipse">
            <a:avLst/>
          </a:prstGeom>
          <a:solidFill>
            <a:srgbClr val="336EA8"/>
          </a:solidFill>
          <a:ln/>
        </p:spPr>
        <p:txBody>
          <a:bodyPr/>
          <a:lstStyle/>
          <a:p>
            <a:endParaRPr lang="en-GB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" name="Text 13">
            <a:extLst>
              <a:ext uri="{FF2B5EF4-FFF2-40B4-BE49-F238E27FC236}">
                <a16:creationId xmlns:a16="http://schemas.microsoft.com/office/drawing/2014/main" id="{164D65F0-BF29-44D3-EF20-DEE52A59CD90}"/>
              </a:ext>
            </a:extLst>
          </p:cNvPr>
          <p:cNvSpPr/>
          <p:nvPr/>
        </p:nvSpPr>
        <p:spPr>
          <a:xfrm>
            <a:off x="4536440" y="252408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03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Text 14">
            <a:extLst>
              <a:ext uri="{FF2B5EF4-FFF2-40B4-BE49-F238E27FC236}">
                <a16:creationId xmlns:a16="http://schemas.microsoft.com/office/drawing/2014/main" id="{FB531004-A568-5DFD-9805-1CE3363AC90A}"/>
              </a:ext>
            </a:extLst>
          </p:cNvPr>
          <p:cNvSpPr/>
          <p:nvPr/>
        </p:nvSpPr>
        <p:spPr>
          <a:xfrm>
            <a:off x="4801616" y="2377779"/>
            <a:ext cx="1271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221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Device Usage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Shape 15">
            <a:extLst>
              <a:ext uri="{FF2B5EF4-FFF2-40B4-BE49-F238E27FC236}">
                <a16:creationId xmlns:a16="http://schemas.microsoft.com/office/drawing/2014/main" id="{EE971146-6B1D-000B-1094-ABF50512FBF6}"/>
              </a:ext>
            </a:extLst>
          </p:cNvPr>
          <p:cNvSpPr/>
          <p:nvPr/>
        </p:nvSpPr>
        <p:spPr>
          <a:xfrm>
            <a:off x="6264656" y="2377779"/>
            <a:ext cx="1691640" cy="512064"/>
          </a:xfrm>
          <a:prstGeom prst="rect">
            <a:avLst/>
          </a:prstGeom>
          <a:solidFill>
            <a:srgbClr val="F4F9F7"/>
          </a:solidFill>
          <a:ln/>
          <a:effectLst>
            <a:outerShdw blurRad="88900" dist="38100" dir="5400000" algn="bl" rotWithShape="0">
              <a:srgbClr val="1B2E28">
                <a:alpha val="12000"/>
              </a:srgbClr>
            </a:outerShdw>
          </a:effectLst>
        </p:spPr>
        <p:txBody>
          <a:bodyPr/>
          <a:lstStyle/>
          <a:p>
            <a:endParaRPr lang="en-GB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Shape 16">
            <a:extLst>
              <a:ext uri="{FF2B5EF4-FFF2-40B4-BE49-F238E27FC236}">
                <a16:creationId xmlns:a16="http://schemas.microsoft.com/office/drawing/2014/main" id="{2C263D45-69E8-C89A-2982-B159301C39CD}"/>
              </a:ext>
            </a:extLst>
          </p:cNvPr>
          <p:cNvSpPr/>
          <p:nvPr/>
        </p:nvSpPr>
        <p:spPr>
          <a:xfrm>
            <a:off x="6346952" y="2524083"/>
            <a:ext cx="219456" cy="219456"/>
          </a:xfrm>
          <a:prstGeom prst="ellipse">
            <a:avLst/>
          </a:prstGeom>
          <a:solidFill>
            <a:srgbClr val="047954"/>
          </a:solidFill>
          <a:ln/>
        </p:spPr>
        <p:txBody>
          <a:bodyPr/>
          <a:lstStyle/>
          <a:p>
            <a:endParaRPr lang="en-GB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" name="Text 17">
            <a:extLst>
              <a:ext uri="{FF2B5EF4-FFF2-40B4-BE49-F238E27FC236}">
                <a16:creationId xmlns:a16="http://schemas.microsoft.com/office/drawing/2014/main" id="{B66C1835-0663-F255-759E-541A8FF22EE0}"/>
              </a:ext>
            </a:extLst>
          </p:cNvPr>
          <p:cNvSpPr/>
          <p:nvPr/>
        </p:nvSpPr>
        <p:spPr>
          <a:xfrm>
            <a:off x="6346952" y="252408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04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2" name="Text 18">
            <a:extLst>
              <a:ext uri="{FF2B5EF4-FFF2-40B4-BE49-F238E27FC236}">
                <a16:creationId xmlns:a16="http://schemas.microsoft.com/office/drawing/2014/main" id="{F695C61B-02B7-4CB5-99DC-38D330672429}"/>
              </a:ext>
            </a:extLst>
          </p:cNvPr>
          <p:cNvSpPr/>
          <p:nvPr/>
        </p:nvSpPr>
        <p:spPr>
          <a:xfrm>
            <a:off x="6612128" y="2377779"/>
            <a:ext cx="1271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221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Social Media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Shape 19">
            <a:extLst>
              <a:ext uri="{FF2B5EF4-FFF2-40B4-BE49-F238E27FC236}">
                <a16:creationId xmlns:a16="http://schemas.microsoft.com/office/drawing/2014/main" id="{AA9B264E-941E-A36A-31A8-CFFA1EBF94DB}"/>
              </a:ext>
            </a:extLst>
          </p:cNvPr>
          <p:cNvSpPr/>
          <p:nvPr/>
        </p:nvSpPr>
        <p:spPr>
          <a:xfrm>
            <a:off x="8075168" y="2377779"/>
            <a:ext cx="1691640" cy="512064"/>
          </a:xfrm>
          <a:prstGeom prst="rect">
            <a:avLst/>
          </a:prstGeom>
          <a:solidFill>
            <a:srgbClr val="F4F9F7"/>
          </a:solidFill>
          <a:ln/>
          <a:effectLst>
            <a:outerShdw blurRad="88900" dist="38100" dir="5400000" algn="bl" rotWithShape="0">
              <a:srgbClr val="1B2E28">
                <a:alpha val="12000"/>
              </a:srgbClr>
            </a:outerShdw>
          </a:effectLst>
        </p:spPr>
        <p:txBody>
          <a:bodyPr/>
          <a:lstStyle/>
          <a:p>
            <a:endParaRPr lang="en-GB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" name="Shape 20">
            <a:extLst>
              <a:ext uri="{FF2B5EF4-FFF2-40B4-BE49-F238E27FC236}">
                <a16:creationId xmlns:a16="http://schemas.microsoft.com/office/drawing/2014/main" id="{92EDA131-9C61-E0B9-9759-343469B454BD}"/>
              </a:ext>
            </a:extLst>
          </p:cNvPr>
          <p:cNvSpPr/>
          <p:nvPr/>
        </p:nvSpPr>
        <p:spPr>
          <a:xfrm>
            <a:off x="8157464" y="2524083"/>
            <a:ext cx="219456" cy="219456"/>
          </a:xfrm>
          <a:prstGeom prst="ellipse">
            <a:avLst/>
          </a:prstGeom>
          <a:solidFill>
            <a:srgbClr val="0FAB7D"/>
          </a:solidFill>
          <a:ln/>
        </p:spPr>
        <p:txBody>
          <a:bodyPr/>
          <a:lstStyle/>
          <a:p>
            <a:endParaRPr lang="en-GB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" name="Text 21">
            <a:extLst>
              <a:ext uri="{FF2B5EF4-FFF2-40B4-BE49-F238E27FC236}">
                <a16:creationId xmlns:a16="http://schemas.microsoft.com/office/drawing/2014/main" id="{20A884F8-4123-6EFF-B454-F5ADA469B5F8}"/>
              </a:ext>
            </a:extLst>
          </p:cNvPr>
          <p:cNvSpPr/>
          <p:nvPr/>
        </p:nvSpPr>
        <p:spPr>
          <a:xfrm>
            <a:off x="8157464" y="252408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05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6" name="Text 22">
            <a:extLst>
              <a:ext uri="{FF2B5EF4-FFF2-40B4-BE49-F238E27FC236}">
                <a16:creationId xmlns:a16="http://schemas.microsoft.com/office/drawing/2014/main" id="{B8E0A511-2F78-5759-ECFF-440B0292EEC1}"/>
              </a:ext>
            </a:extLst>
          </p:cNvPr>
          <p:cNvSpPr/>
          <p:nvPr/>
        </p:nvSpPr>
        <p:spPr>
          <a:xfrm>
            <a:off x="8422640" y="2377779"/>
            <a:ext cx="1271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221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Sleep Analytics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Shape 23">
            <a:extLst>
              <a:ext uri="{FF2B5EF4-FFF2-40B4-BE49-F238E27FC236}">
                <a16:creationId xmlns:a16="http://schemas.microsoft.com/office/drawing/2014/main" id="{05132E72-F965-ADA4-4DCF-AEA1276B467E}"/>
              </a:ext>
            </a:extLst>
          </p:cNvPr>
          <p:cNvSpPr/>
          <p:nvPr/>
        </p:nvSpPr>
        <p:spPr>
          <a:xfrm>
            <a:off x="9885680" y="2377779"/>
            <a:ext cx="1691640" cy="512064"/>
          </a:xfrm>
          <a:prstGeom prst="rect">
            <a:avLst/>
          </a:prstGeom>
          <a:solidFill>
            <a:srgbClr val="F4F9F7"/>
          </a:solidFill>
          <a:ln/>
          <a:effectLst>
            <a:outerShdw blurRad="88900" dist="38100" dir="5400000" algn="bl" rotWithShape="0">
              <a:srgbClr val="1B2E28">
                <a:alpha val="12000"/>
              </a:srgbClr>
            </a:outerShdw>
          </a:effectLst>
        </p:spPr>
        <p:txBody>
          <a:bodyPr/>
          <a:lstStyle/>
          <a:p>
            <a:endParaRPr lang="en-GB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Shape 24">
            <a:extLst>
              <a:ext uri="{FF2B5EF4-FFF2-40B4-BE49-F238E27FC236}">
                <a16:creationId xmlns:a16="http://schemas.microsoft.com/office/drawing/2014/main" id="{7B9E61F7-C4EA-DEE9-11DD-F5445F33A41A}"/>
              </a:ext>
            </a:extLst>
          </p:cNvPr>
          <p:cNvSpPr/>
          <p:nvPr/>
        </p:nvSpPr>
        <p:spPr>
          <a:xfrm>
            <a:off x="9967976" y="2524083"/>
            <a:ext cx="219456" cy="219456"/>
          </a:xfrm>
          <a:prstGeom prst="ellipse">
            <a:avLst/>
          </a:prstGeom>
          <a:solidFill>
            <a:srgbClr val="336EA8"/>
          </a:solidFill>
          <a:ln/>
        </p:spPr>
        <p:txBody>
          <a:bodyPr/>
          <a:lstStyle/>
          <a:p>
            <a:endParaRPr lang="en-GB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Text 25">
            <a:extLst>
              <a:ext uri="{FF2B5EF4-FFF2-40B4-BE49-F238E27FC236}">
                <a16:creationId xmlns:a16="http://schemas.microsoft.com/office/drawing/2014/main" id="{0A6F25E1-BCA7-496A-F852-7124E36C2E96}"/>
              </a:ext>
            </a:extLst>
          </p:cNvPr>
          <p:cNvSpPr/>
          <p:nvPr/>
        </p:nvSpPr>
        <p:spPr>
          <a:xfrm>
            <a:off x="9967976" y="2524083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06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Text 26">
            <a:extLst>
              <a:ext uri="{FF2B5EF4-FFF2-40B4-BE49-F238E27FC236}">
                <a16:creationId xmlns:a16="http://schemas.microsoft.com/office/drawing/2014/main" id="{2A9D7987-5F04-1330-5ACE-5B849178EFC3}"/>
              </a:ext>
            </a:extLst>
          </p:cNvPr>
          <p:cNvSpPr/>
          <p:nvPr/>
        </p:nvSpPr>
        <p:spPr>
          <a:xfrm>
            <a:off x="10233152" y="2377779"/>
            <a:ext cx="1271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221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Mental Health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1" name="Shape 27">
            <a:extLst>
              <a:ext uri="{FF2B5EF4-FFF2-40B4-BE49-F238E27FC236}">
                <a16:creationId xmlns:a16="http://schemas.microsoft.com/office/drawing/2014/main" id="{40EE3727-AAA5-3F21-7FE6-447617291C37}"/>
              </a:ext>
            </a:extLst>
          </p:cNvPr>
          <p:cNvSpPr/>
          <p:nvPr/>
        </p:nvSpPr>
        <p:spPr>
          <a:xfrm>
            <a:off x="833120" y="3008715"/>
            <a:ext cx="1691640" cy="512064"/>
          </a:xfrm>
          <a:prstGeom prst="rect">
            <a:avLst/>
          </a:prstGeom>
          <a:solidFill>
            <a:srgbClr val="F4F9F7"/>
          </a:solidFill>
          <a:ln/>
          <a:effectLst>
            <a:outerShdw blurRad="88900" dist="38100" dir="5400000" algn="bl" rotWithShape="0">
              <a:srgbClr val="1B2E28">
                <a:alpha val="12000"/>
              </a:srgbClr>
            </a:outerShdw>
          </a:effectLst>
        </p:spPr>
        <p:txBody>
          <a:bodyPr/>
          <a:lstStyle/>
          <a:p>
            <a:endParaRPr lang="en-GB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Shape 28">
            <a:extLst>
              <a:ext uri="{FF2B5EF4-FFF2-40B4-BE49-F238E27FC236}">
                <a16:creationId xmlns:a16="http://schemas.microsoft.com/office/drawing/2014/main" id="{EC51D3A2-3E75-2AFC-9BC5-2D702284D007}"/>
              </a:ext>
            </a:extLst>
          </p:cNvPr>
          <p:cNvSpPr/>
          <p:nvPr/>
        </p:nvSpPr>
        <p:spPr>
          <a:xfrm>
            <a:off x="915416" y="3155019"/>
            <a:ext cx="219456" cy="219456"/>
          </a:xfrm>
          <a:prstGeom prst="ellipse">
            <a:avLst/>
          </a:prstGeom>
          <a:solidFill>
            <a:srgbClr val="047954"/>
          </a:solidFill>
          <a:ln/>
        </p:spPr>
        <p:txBody>
          <a:bodyPr/>
          <a:lstStyle/>
          <a:p>
            <a:endParaRPr lang="en-GB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Text 29">
            <a:extLst>
              <a:ext uri="{FF2B5EF4-FFF2-40B4-BE49-F238E27FC236}">
                <a16:creationId xmlns:a16="http://schemas.microsoft.com/office/drawing/2014/main" id="{643D24E2-E31C-0FFC-969C-6D103A2FF18D}"/>
              </a:ext>
            </a:extLst>
          </p:cNvPr>
          <p:cNvSpPr/>
          <p:nvPr/>
        </p:nvSpPr>
        <p:spPr>
          <a:xfrm>
            <a:off x="915416" y="315501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07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4" name="Text 30">
            <a:extLst>
              <a:ext uri="{FF2B5EF4-FFF2-40B4-BE49-F238E27FC236}">
                <a16:creationId xmlns:a16="http://schemas.microsoft.com/office/drawing/2014/main" id="{E202DA09-2D16-37A8-A41C-E02978BBE486}"/>
              </a:ext>
            </a:extLst>
          </p:cNvPr>
          <p:cNvSpPr/>
          <p:nvPr/>
        </p:nvSpPr>
        <p:spPr>
          <a:xfrm>
            <a:off x="1180592" y="3008715"/>
            <a:ext cx="1271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221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Productivity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5" name="Shape 31">
            <a:extLst>
              <a:ext uri="{FF2B5EF4-FFF2-40B4-BE49-F238E27FC236}">
                <a16:creationId xmlns:a16="http://schemas.microsoft.com/office/drawing/2014/main" id="{90C82DE7-5A0B-8DB9-C6EA-28D7BC9F1BA7}"/>
              </a:ext>
            </a:extLst>
          </p:cNvPr>
          <p:cNvSpPr/>
          <p:nvPr/>
        </p:nvSpPr>
        <p:spPr>
          <a:xfrm>
            <a:off x="2643632" y="3008715"/>
            <a:ext cx="1691640" cy="512064"/>
          </a:xfrm>
          <a:prstGeom prst="rect">
            <a:avLst/>
          </a:prstGeom>
          <a:solidFill>
            <a:srgbClr val="F4F9F7"/>
          </a:solidFill>
          <a:ln/>
          <a:effectLst>
            <a:outerShdw blurRad="88900" dist="38100" dir="5400000" algn="bl" rotWithShape="0">
              <a:srgbClr val="1B2E28">
                <a:alpha val="12000"/>
              </a:srgbClr>
            </a:outerShdw>
          </a:effectLst>
        </p:spPr>
        <p:txBody>
          <a:bodyPr/>
          <a:lstStyle/>
          <a:p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" name="Shape 32">
            <a:extLst>
              <a:ext uri="{FF2B5EF4-FFF2-40B4-BE49-F238E27FC236}">
                <a16:creationId xmlns:a16="http://schemas.microsoft.com/office/drawing/2014/main" id="{49BB667C-56C6-9689-4FDA-D71B32F0EACD}"/>
              </a:ext>
            </a:extLst>
          </p:cNvPr>
          <p:cNvSpPr/>
          <p:nvPr/>
        </p:nvSpPr>
        <p:spPr>
          <a:xfrm>
            <a:off x="2725928" y="3155019"/>
            <a:ext cx="219456" cy="219456"/>
          </a:xfrm>
          <a:prstGeom prst="ellipse">
            <a:avLst/>
          </a:prstGeom>
          <a:solidFill>
            <a:srgbClr val="0FAB7D"/>
          </a:solidFill>
          <a:ln/>
        </p:spPr>
        <p:txBody>
          <a:bodyPr/>
          <a:lstStyle/>
          <a:p>
            <a:endParaRPr lang="en-GB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7" name="Text 33">
            <a:extLst>
              <a:ext uri="{FF2B5EF4-FFF2-40B4-BE49-F238E27FC236}">
                <a16:creationId xmlns:a16="http://schemas.microsoft.com/office/drawing/2014/main" id="{2E86EDBD-2009-BDF3-E1EA-6535093A603A}"/>
              </a:ext>
            </a:extLst>
          </p:cNvPr>
          <p:cNvSpPr/>
          <p:nvPr/>
        </p:nvSpPr>
        <p:spPr>
          <a:xfrm>
            <a:off x="2725928" y="3155019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08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8" name="Text 34">
            <a:extLst>
              <a:ext uri="{FF2B5EF4-FFF2-40B4-BE49-F238E27FC236}">
                <a16:creationId xmlns:a16="http://schemas.microsoft.com/office/drawing/2014/main" id="{951FDFF9-19CC-4473-949D-02EDE389A2FF}"/>
              </a:ext>
            </a:extLst>
          </p:cNvPr>
          <p:cNvSpPr/>
          <p:nvPr/>
        </p:nvSpPr>
        <p:spPr>
          <a:xfrm>
            <a:off x="2991104" y="3008715"/>
            <a:ext cx="1271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221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 Risk Users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9" name="Shape 35">
            <a:extLst>
              <a:ext uri="{FF2B5EF4-FFF2-40B4-BE49-F238E27FC236}">
                <a16:creationId xmlns:a16="http://schemas.microsoft.com/office/drawing/2014/main" id="{C78B98B7-AFDD-F60D-1140-7687A10E4184}"/>
              </a:ext>
            </a:extLst>
          </p:cNvPr>
          <p:cNvSpPr/>
          <p:nvPr/>
        </p:nvSpPr>
        <p:spPr>
          <a:xfrm>
            <a:off x="4454144" y="2999572"/>
            <a:ext cx="1691640" cy="512064"/>
          </a:xfrm>
          <a:prstGeom prst="rect">
            <a:avLst/>
          </a:prstGeom>
          <a:solidFill>
            <a:srgbClr val="F4F9F7"/>
          </a:solidFill>
          <a:ln/>
          <a:effectLst>
            <a:outerShdw blurRad="88900" dist="38100" dir="5400000" algn="bl" rotWithShape="0">
              <a:srgbClr val="1B2E28">
                <a:alpha val="12000"/>
              </a:srgbClr>
            </a:outerShdw>
          </a:effectLst>
        </p:spPr>
        <p:txBody>
          <a:bodyPr/>
          <a:lstStyle/>
          <a:p>
            <a:endParaRPr lang="en-GB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0" name="Shape 36">
            <a:extLst>
              <a:ext uri="{FF2B5EF4-FFF2-40B4-BE49-F238E27FC236}">
                <a16:creationId xmlns:a16="http://schemas.microsoft.com/office/drawing/2014/main" id="{7AD228AC-3ADF-F195-1A2D-7CAC247DC333}"/>
              </a:ext>
            </a:extLst>
          </p:cNvPr>
          <p:cNvSpPr/>
          <p:nvPr/>
        </p:nvSpPr>
        <p:spPr>
          <a:xfrm>
            <a:off x="4536440" y="3145876"/>
            <a:ext cx="219456" cy="219456"/>
          </a:xfrm>
          <a:prstGeom prst="ellipse">
            <a:avLst/>
          </a:prstGeom>
          <a:solidFill>
            <a:srgbClr val="336EA8"/>
          </a:solidFill>
          <a:ln/>
        </p:spPr>
        <p:txBody>
          <a:bodyPr/>
          <a:lstStyle/>
          <a:p>
            <a:endParaRPr lang="en-GB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" name="Text 37">
            <a:extLst>
              <a:ext uri="{FF2B5EF4-FFF2-40B4-BE49-F238E27FC236}">
                <a16:creationId xmlns:a16="http://schemas.microsoft.com/office/drawing/2014/main" id="{6B35C54E-ABF4-6159-2E24-CF6D3BCCC688}"/>
              </a:ext>
            </a:extLst>
          </p:cNvPr>
          <p:cNvSpPr/>
          <p:nvPr/>
        </p:nvSpPr>
        <p:spPr>
          <a:xfrm>
            <a:off x="4536440" y="31458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09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Text 38">
            <a:extLst>
              <a:ext uri="{FF2B5EF4-FFF2-40B4-BE49-F238E27FC236}">
                <a16:creationId xmlns:a16="http://schemas.microsoft.com/office/drawing/2014/main" id="{1105D5CE-E141-95E7-8E0F-8501595FB64C}"/>
              </a:ext>
            </a:extLst>
          </p:cNvPr>
          <p:cNvSpPr/>
          <p:nvPr/>
        </p:nvSpPr>
        <p:spPr>
          <a:xfrm>
            <a:off x="4801616" y="2999572"/>
            <a:ext cx="1271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221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Physical Activity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" name="Shape 39">
            <a:extLst>
              <a:ext uri="{FF2B5EF4-FFF2-40B4-BE49-F238E27FC236}">
                <a16:creationId xmlns:a16="http://schemas.microsoft.com/office/drawing/2014/main" id="{AF6E6829-A9E1-0E03-D3C4-4CD56E8E9A92}"/>
              </a:ext>
            </a:extLst>
          </p:cNvPr>
          <p:cNvSpPr/>
          <p:nvPr/>
        </p:nvSpPr>
        <p:spPr>
          <a:xfrm>
            <a:off x="6264656" y="2999572"/>
            <a:ext cx="1691640" cy="512064"/>
          </a:xfrm>
          <a:prstGeom prst="rect">
            <a:avLst/>
          </a:prstGeom>
          <a:solidFill>
            <a:srgbClr val="F4F9F7"/>
          </a:solidFill>
          <a:ln/>
          <a:effectLst>
            <a:outerShdw blurRad="88900" dist="38100" dir="5400000" algn="bl" rotWithShape="0">
              <a:srgbClr val="1B2E28">
                <a:alpha val="12000"/>
              </a:srgbClr>
            </a:outerShdw>
          </a:effectLst>
        </p:spPr>
        <p:txBody>
          <a:bodyPr/>
          <a:lstStyle/>
          <a:p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Shape 40">
            <a:extLst>
              <a:ext uri="{FF2B5EF4-FFF2-40B4-BE49-F238E27FC236}">
                <a16:creationId xmlns:a16="http://schemas.microsoft.com/office/drawing/2014/main" id="{8086F0CA-ED6F-EB6C-84A7-2F78CA865642}"/>
              </a:ext>
            </a:extLst>
          </p:cNvPr>
          <p:cNvSpPr/>
          <p:nvPr/>
        </p:nvSpPr>
        <p:spPr>
          <a:xfrm>
            <a:off x="6346952" y="3145876"/>
            <a:ext cx="219456" cy="219456"/>
          </a:xfrm>
          <a:prstGeom prst="ellipse">
            <a:avLst/>
          </a:prstGeom>
          <a:solidFill>
            <a:srgbClr val="047954"/>
          </a:solidFill>
          <a:ln/>
        </p:spPr>
        <p:txBody>
          <a:bodyPr/>
          <a:lstStyle/>
          <a:p>
            <a:endParaRPr lang="en-GB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Text 41">
            <a:extLst>
              <a:ext uri="{FF2B5EF4-FFF2-40B4-BE49-F238E27FC236}">
                <a16:creationId xmlns:a16="http://schemas.microsoft.com/office/drawing/2014/main" id="{DBC4B020-4C06-379C-7F64-DD5CA0250F27}"/>
              </a:ext>
            </a:extLst>
          </p:cNvPr>
          <p:cNvSpPr/>
          <p:nvPr/>
        </p:nvSpPr>
        <p:spPr>
          <a:xfrm>
            <a:off x="6346952" y="31458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Text 42">
            <a:extLst>
              <a:ext uri="{FF2B5EF4-FFF2-40B4-BE49-F238E27FC236}">
                <a16:creationId xmlns:a16="http://schemas.microsoft.com/office/drawing/2014/main" id="{58920891-B3C6-427C-6B75-2749D32E8D4B}"/>
              </a:ext>
            </a:extLst>
          </p:cNvPr>
          <p:cNvSpPr/>
          <p:nvPr/>
        </p:nvSpPr>
        <p:spPr>
          <a:xfrm>
            <a:off x="6612128" y="2999572"/>
            <a:ext cx="1271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221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Correlations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" name="Shape 43">
            <a:extLst>
              <a:ext uri="{FF2B5EF4-FFF2-40B4-BE49-F238E27FC236}">
                <a16:creationId xmlns:a16="http://schemas.microsoft.com/office/drawing/2014/main" id="{1AE1F7A6-9B20-8568-5A85-7F450B8E3036}"/>
              </a:ext>
            </a:extLst>
          </p:cNvPr>
          <p:cNvSpPr/>
          <p:nvPr/>
        </p:nvSpPr>
        <p:spPr>
          <a:xfrm>
            <a:off x="8075168" y="2999572"/>
            <a:ext cx="1691640" cy="512064"/>
          </a:xfrm>
          <a:prstGeom prst="rect">
            <a:avLst/>
          </a:prstGeom>
          <a:solidFill>
            <a:srgbClr val="F4F9F7"/>
          </a:solidFill>
          <a:ln/>
          <a:effectLst>
            <a:outerShdw blurRad="88900" dist="38100" dir="5400000" algn="bl" rotWithShape="0">
              <a:srgbClr val="1B2E28">
                <a:alpha val="12000"/>
              </a:srgbClr>
            </a:outerShdw>
          </a:effectLst>
        </p:spPr>
        <p:txBody>
          <a:bodyPr/>
          <a:lstStyle/>
          <a:p>
            <a:endParaRPr lang="en-GB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8" name="Shape 44">
            <a:extLst>
              <a:ext uri="{FF2B5EF4-FFF2-40B4-BE49-F238E27FC236}">
                <a16:creationId xmlns:a16="http://schemas.microsoft.com/office/drawing/2014/main" id="{5C992B8D-3511-EEBE-1580-E639E8BDB56F}"/>
              </a:ext>
            </a:extLst>
          </p:cNvPr>
          <p:cNvSpPr/>
          <p:nvPr/>
        </p:nvSpPr>
        <p:spPr>
          <a:xfrm>
            <a:off x="8157464" y="3145876"/>
            <a:ext cx="219456" cy="219456"/>
          </a:xfrm>
          <a:prstGeom prst="ellipse">
            <a:avLst/>
          </a:prstGeom>
          <a:solidFill>
            <a:srgbClr val="0FAB7D"/>
          </a:solidFill>
          <a:ln/>
        </p:spPr>
        <p:txBody>
          <a:bodyPr/>
          <a:lstStyle/>
          <a:p>
            <a:endParaRPr lang="en-GB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Text 45">
            <a:extLst>
              <a:ext uri="{FF2B5EF4-FFF2-40B4-BE49-F238E27FC236}">
                <a16:creationId xmlns:a16="http://schemas.microsoft.com/office/drawing/2014/main" id="{C29C5DDF-2FBD-D61E-3AE3-7520E53EA106}"/>
              </a:ext>
            </a:extLst>
          </p:cNvPr>
          <p:cNvSpPr/>
          <p:nvPr/>
        </p:nvSpPr>
        <p:spPr>
          <a:xfrm>
            <a:off x="8157464" y="31458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Text 46">
            <a:extLst>
              <a:ext uri="{FF2B5EF4-FFF2-40B4-BE49-F238E27FC236}">
                <a16:creationId xmlns:a16="http://schemas.microsoft.com/office/drawing/2014/main" id="{E656D680-BB21-21B2-9097-591CAC2102D5}"/>
              </a:ext>
            </a:extLst>
          </p:cNvPr>
          <p:cNvSpPr/>
          <p:nvPr/>
        </p:nvSpPr>
        <p:spPr>
          <a:xfrm>
            <a:off x="8422640" y="2999572"/>
            <a:ext cx="12710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3221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Segmentation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1" name="Text 47">
            <a:extLst>
              <a:ext uri="{FF2B5EF4-FFF2-40B4-BE49-F238E27FC236}">
                <a16:creationId xmlns:a16="http://schemas.microsoft.com/office/drawing/2014/main" id="{3C657DD1-0CCD-1E9F-A383-288D5B562073}"/>
              </a:ext>
            </a:extLst>
          </p:cNvPr>
          <p:cNvSpPr/>
          <p:nvPr/>
        </p:nvSpPr>
        <p:spPr>
          <a:xfrm>
            <a:off x="833120" y="3765405"/>
            <a:ext cx="102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21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Flow &amp; Storytelling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" name="Shape 48">
            <a:extLst>
              <a:ext uri="{FF2B5EF4-FFF2-40B4-BE49-F238E27FC236}">
                <a16:creationId xmlns:a16="http://schemas.microsoft.com/office/drawing/2014/main" id="{77779C88-3974-EF37-0761-918A4C7B5093}"/>
              </a:ext>
            </a:extLst>
          </p:cNvPr>
          <p:cNvSpPr/>
          <p:nvPr/>
        </p:nvSpPr>
        <p:spPr>
          <a:xfrm>
            <a:off x="833119" y="4158597"/>
            <a:ext cx="2269745" cy="566928"/>
          </a:xfrm>
          <a:prstGeom prst="roundRect">
            <a:avLst>
              <a:gd name="adj" fmla="val 48387"/>
            </a:avLst>
          </a:prstGeom>
          <a:solidFill>
            <a:srgbClr val="047954"/>
          </a:solidFill>
          <a:ln/>
        </p:spPr>
        <p:txBody>
          <a:bodyPr/>
          <a:lstStyle/>
          <a:p>
            <a:endParaRPr lang="en-GB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3" name="Text 49">
            <a:extLst>
              <a:ext uri="{FF2B5EF4-FFF2-40B4-BE49-F238E27FC236}">
                <a16:creationId xmlns:a16="http://schemas.microsoft.com/office/drawing/2014/main" id="{0D74BCB2-B4F0-D7C4-2864-7A7833812A46}"/>
              </a:ext>
            </a:extLst>
          </p:cNvPr>
          <p:cNvSpPr/>
          <p:nvPr/>
        </p:nvSpPr>
        <p:spPr>
          <a:xfrm>
            <a:off x="833119" y="4158597"/>
            <a:ext cx="22697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Text 50">
            <a:extLst>
              <a:ext uri="{FF2B5EF4-FFF2-40B4-BE49-F238E27FC236}">
                <a16:creationId xmlns:a16="http://schemas.microsoft.com/office/drawing/2014/main" id="{8FA08F2A-56CE-CA70-403D-ED83891127E3}"/>
              </a:ext>
            </a:extLst>
          </p:cNvPr>
          <p:cNvSpPr/>
          <p:nvPr/>
        </p:nvSpPr>
        <p:spPr>
          <a:xfrm>
            <a:off x="3228541" y="4190601"/>
            <a:ext cx="2550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6B6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Shape 51">
            <a:extLst>
              <a:ext uri="{FF2B5EF4-FFF2-40B4-BE49-F238E27FC236}">
                <a16:creationId xmlns:a16="http://schemas.microsoft.com/office/drawing/2014/main" id="{56F2530C-56B0-3D93-013A-BC310877DC07}"/>
              </a:ext>
            </a:extLst>
          </p:cNvPr>
          <p:cNvSpPr/>
          <p:nvPr/>
        </p:nvSpPr>
        <p:spPr>
          <a:xfrm>
            <a:off x="3607292" y="4190601"/>
            <a:ext cx="2269745" cy="566928"/>
          </a:xfrm>
          <a:prstGeom prst="roundRect">
            <a:avLst>
              <a:gd name="adj" fmla="val 48387"/>
            </a:avLst>
          </a:prstGeom>
          <a:solidFill>
            <a:srgbClr val="0FAB7D"/>
          </a:solidFill>
          <a:ln/>
        </p:spPr>
        <p:txBody>
          <a:bodyPr/>
          <a:lstStyle/>
          <a:p>
            <a:endParaRPr lang="en-GB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6" name="Text 52">
            <a:extLst>
              <a:ext uri="{FF2B5EF4-FFF2-40B4-BE49-F238E27FC236}">
                <a16:creationId xmlns:a16="http://schemas.microsoft.com/office/drawing/2014/main" id="{0790B14A-6A69-C4F0-6462-9CEA811E1853}"/>
              </a:ext>
            </a:extLst>
          </p:cNvPr>
          <p:cNvSpPr/>
          <p:nvPr/>
        </p:nvSpPr>
        <p:spPr>
          <a:xfrm>
            <a:off x="3621023" y="4190601"/>
            <a:ext cx="22697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Behavior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Text 53">
            <a:extLst>
              <a:ext uri="{FF2B5EF4-FFF2-40B4-BE49-F238E27FC236}">
                <a16:creationId xmlns:a16="http://schemas.microsoft.com/office/drawing/2014/main" id="{1C972BDB-94C0-9AD3-D346-E0E71D2FDDFB}"/>
              </a:ext>
            </a:extLst>
          </p:cNvPr>
          <p:cNvSpPr/>
          <p:nvPr/>
        </p:nvSpPr>
        <p:spPr>
          <a:xfrm>
            <a:off x="5991061" y="4222605"/>
            <a:ext cx="2550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6B6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8" name="Shape 54">
            <a:extLst>
              <a:ext uri="{FF2B5EF4-FFF2-40B4-BE49-F238E27FC236}">
                <a16:creationId xmlns:a16="http://schemas.microsoft.com/office/drawing/2014/main" id="{AC407CE8-F7E9-E663-2522-AA92F034D7D0}"/>
              </a:ext>
            </a:extLst>
          </p:cNvPr>
          <p:cNvSpPr/>
          <p:nvPr/>
        </p:nvSpPr>
        <p:spPr>
          <a:xfrm>
            <a:off x="6381465" y="4190601"/>
            <a:ext cx="2269745" cy="566928"/>
          </a:xfrm>
          <a:prstGeom prst="roundRect">
            <a:avLst>
              <a:gd name="adj" fmla="val 48387"/>
            </a:avLst>
          </a:prstGeom>
          <a:solidFill>
            <a:srgbClr val="336EA8"/>
          </a:solidFill>
          <a:ln/>
        </p:spPr>
        <p:txBody>
          <a:bodyPr/>
          <a:lstStyle/>
          <a:p>
            <a:endParaRPr lang="en-GB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Text 55">
            <a:extLst>
              <a:ext uri="{FF2B5EF4-FFF2-40B4-BE49-F238E27FC236}">
                <a16:creationId xmlns:a16="http://schemas.microsoft.com/office/drawing/2014/main" id="{3B8AE723-8A82-394E-AADA-E6BD46150B7B}"/>
              </a:ext>
            </a:extLst>
          </p:cNvPr>
          <p:cNvSpPr/>
          <p:nvPr/>
        </p:nvSpPr>
        <p:spPr>
          <a:xfrm>
            <a:off x="6393117" y="4190601"/>
            <a:ext cx="22697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 Impact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Text 56">
            <a:extLst>
              <a:ext uri="{FF2B5EF4-FFF2-40B4-BE49-F238E27FC236}">
                <a16:creationId xmlns:a16="http://schemas.microsoft.com/office/drawing/2014/main" id="{BD54963A-8A79-7E2E-7ABF-E5A5FD72339F}"/>
              </a:ext>
            </a:extLst>
          </p:cNvPr>
          <p:cNvSpPr/>
          <p:nvPr/>
        </p:nvSpPr>
        <p:spPr>
          <a:xfrm>
            <a:off x="8786586" y="4190601"/>
            <a:ext cx="2550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6B6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1" name="Shape 57">
            <a:extLst>
              <a:ext uri="{FF2B5EF4-FFF2-40B4-BE49-F238E27FC236}">
                <a16:creationId xmlns:a16="http://schemas.microsoft.com/office/drawing/2014/main" id="{0F5EA46A-924A-9436-7990-43C0433AD241}"/>
              </a:ext>
            </a:extLst>
          </p:cNvPr>
          <p:cNvSpPr/>
          <p:nvPr/>
        </p:nvSpPr>
        <p:spPr>
          <a:xfrm>
            <a:off x="9155637" y="4190601"/>
            <a:ext cx="2269745" cy="566928"/>
          </a:xfrm>
          <a:prstGeom prst="roundRect">
            <a:avLst>
              <a:gd name="adj" fmla="val 48387"/>
            </a:avLst>
          </a:prstGeom>
          <a:solidFill>
            <a:srgbClr val="D7B119"/>
          </a:solidFill>
          <a:ln/>
        </p:spPr>
        <p:txBody>
          <a:bodyPr/>
          <a:lstStyle/>
          <a:p>
            <a:endParaRPr lang="en-GB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" name="Text 58">
            <a:extLst>
              <a:ext uri="{FF2B5EF4-FFF2-40B4-BE49-F238E27FC236}">
                <a16:creationId xmlns:a16="http://schemas.microsoft.com/office/drawing/2014/main" id="{38E1EA89-BB40-C29F-676D-47BCBA532F0C}"/>
              </a:ext>
            </a:extLst>
          </p:cNvPr>
          <p:cNvSpPr/>
          <p:nvPr/>
        </p:nvSpPr>
        <p:spPr>
          <a:xfrm>
            <a:off x="9155637" y="4190601"/>
            <a:ext cx="22697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&amp; Action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Text 59">
            <a:extLst>
              <a:ext uri="{FF2B5EF4-FFF2-40B4-BE49-F238E27FC236}">
                <a16:creationId xmlns:a16="http://schemas.microsoft.com/office/drawing/2014/main" id="{C37C76AB-4677-2B63-14CA-6EADDD8C91EF}"/>
              </a:ext>
            </a:extLst>
          </p:cNvPr>
          <p:cNvSpPr/>
          <p:nvPr/>
        </p:nvSpPr>
        <p:spPr>
          <a:xfrm>
            <a:off x="833119" y="4862685"/>
            <a:ext cx="1011018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A6B6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dashboard opens with a high-level Executive Summary, moves into behavioral pages (Device, Social Media, Sleep), then into health outcomes (Mental Health, Productivity), and closes with Risk &amp; Segmentation pages that drive action.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49">
            <a:extLst>
              <a:ext uri="{FF2B5EF4-FFF2-40B4-BE49-F238E27FC236}">
                <a16:creationId xmlns:a16="http://schemas.microsoft.com/office/drawing/2014/main" id="{16DF1895-9A57-C481-CA76-68111338CB41}"/>
              </a:ext>
            </a:extLst>
          </p:cNvPr>
          <p:cNvSpPr/>
          <p:nvPr/>
        </p:nvSpPr>
        <p:spPr>
          <a:xfrm>
            <a:off x="1056298" y="6356350"/>
            <a:ext cx="2296502" cy="365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ar-EG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</a:t>
            </a:r>
            <a:r>
              <a:rPr lang="en-US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/07/2026</a:t>
            </a:r>
          </a:p>
        </p:txBody>
      </p:sp>
    </p:spTree>
    <p:extLst>
      <p:ext uri="{BB962C8B-B14F-4D97-AF65-F5344CB8AC3E}">
        <p14:creationId xmlns:p14="http://schemas.microsoft.com/office/powerpoint/2010/main" val="2182620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35F261-7C72-AC4E-625C-0564DB6F51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pic>
        <p:nvPicPr>
          <p:cNvPr id="8" name="Google Shape;110;p1">
            <a:extLst>
              <a:ext uri="{FF2B5EF4-FFF2-40B4-BE49-F238E27FC236}">
                <a16:creationId xmlns:a16="http://schemas.microsoft.com/office/drawing/2014/main" id="{AA21A00A-5058-49FE-1718-50B2148D4F47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6">
            <a:extLst>
              <a:ext uri="{FF2B5EF4-FFF2-40B4-BE49-F238E27FC236}">
                <a16:creationId xmlns:a16="http://schemas.microsoft.com/office/drawing/2014/main" id="{DA02EEB1-EBFD-82EF-2895-8DBCD07F4220}"/>
              </a:ext>
            </a:extLst>
          </p:cNvPr>
          <p:cNvSpPr/>
          <p:nvPr/>
        </p:nvSpPr>
        <p:spPr>
          <a:xfrm>
            <a:off x="320040" y="1051560"/>
            <a:ext cx="11551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 &amp; Features</a:t>
            </a:r>
            <a:endParaRPr lang="en-US" sz="3000" dirty="0"/>
          </a:p>
        </p:txBody>
      </p:sp>
      <p:sp>
        <p:nvSpPr>
          <p:cNvPr id="2" name="Shape 15">
            <a:extLst>
              <a:ext uri="{FF2B5EF4-FFF2-40B4-BE49-F238E27FC236}">
                <a16:creationId xmlns:a16="http://schemas.microsoft.com/office/drawing/2014/main" id="{B320A29E-8233-C8EB-C2D2-0708C127DC9C}"/>
              </a:ext>
            </a:extLst>
          </p:cNvPr>
          <p:cNvSpPr/>
          <p:nvPr/>
        </p:nvSpPr>
        <p:spPr>
          <a:xfrm>
            <a:off x="825913" y="2118110"/>
            <a:ext cx="5066720" cy="320040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  <p:txBody>
          <a:bodyPr/>
          <a:lstStyle/>
          <a:p>
            <a:endParaRPr lang="en-GB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16">
            <a:extLst>
              <a:ext uri="{FF2B5EF4-FFF2-40B4-BE49-F238E27FC236}">
                <a16:creationId xmlns:a16="http://schemas.microsoft.com/office/drawing/2014/main" id="{0724FE4B-E6D2-C34B-9037-8F08B0EC2D37}"/>
              </a:ext>
            </a:extLst>
          </p:cNvPr>
          <p:cNvSpPr/>
          <p:nvPr/>
        </p:nvSpPr>
        <p:spPr>
          <a:xfrm>
            <a:off x="825912" y="2122069"/>
            <a:ext cx="506672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 End Users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200">
            <a:extLst>
              <a:ext uri="{FF2B5EF4-FFF2-40B4-BE49-F238E27FC236}">
                <a16:creationId xmlns:a16="http://schemas.microsoft.com/office/drawing/2014/main" id="{65FA10B0-E7D8-D124-2CE8-AE69132F8D53}"/>
              </a:ext>
            </a:extLst>
          </p:cNvPr>
          <p:cNvSpPr/>
          <p:nvPr/>
        </p:nvSpPr>
        <p:spPr>
          <a:xfrm>
            <a:off x="825912" y="2548061"/>
            <a:ext cx="5066713" cy="49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hape 201">
            <a:extLst>
              <a:ext uri="{FF2B5EF4-FFF2-40B4-BE49-F238E27FC236}">
                <a16:creationId xmlns:a16="http://schemas.microsoft.com/office/drawing/2014/main" id="{8218BDC4-B05C-CB27-41F7-5BA5DAB02145}"/>
              </a:ext>
            </a:extLst>
          </p:cNvPr>
          <p:cNvSpPr/>
          <p:nvPr/>
        </p:nvSpPr>
        <p:spPr>
          <a:xfrm>
            <a:off x="825913" y="2548061"/>
            <a:ext cx="54864" cy="49000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GB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202">
            <a:extLst>
              <a:ext uri="{FF2B5EF4-FFF2-40B4-BE49-F238E27FC236}">
                <a16:creationId xmlns:a16="http://schemas.microsoft.com/office/drawing/2014/main" id="{71930AFA-6F71-1FBA-949D-846628439FD6}"/>
              </a:ext>
            </a:extLst>
          </p:cNvPr>
          <p:cNvSpPr/>
          <p:nvPr/>
        </p:nvSpPr>
        <p:spPr>
          <a:xfrm>
            <a:off x="963073" y="2575493"/>
            <a:ext cx="379476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4795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Researchers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203">
            <a:extLst>
              <a:ext uri="{FF2B5EF4-FFF2-40B4-BE49-F238E27FC236}">
                <a16:creationId xmlns:a16="http://schemas.microsoft.com/office/drawing/2014/main" id="{26C1D802-9ACE-6A0C-ECB0-B1D5DC11D4FC}"/>
              </a:ext>
            </a:extLst>
          </p:cNvPr>
          <p:cNvSpPr/>
          <p:nvPr/>
        </p:nvSpPr>
        <p:spPr>
          <a:xfrm>
            <a:off x="963073" y="2795493"/>
            <a:ext cx="4772882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Explore patterns behind digital-related mental health risk.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210">
            <a:extLst>
              <a:ext uri="{FF2B5EF4-FFF2-40B4-BE49-F238E27FC236}">
                <a16:creationId xmlns:a16="http://schemas.microsoft.com/office/drawing/2014/main" id="{E9C49BB7-7200-375A-4A48-3C1533825FF1}"/>
              </a:ext>
            </a:extLst>
          </p:cNvPr>
          <p:cNvSpPr/>
          <p:nvPr/>
        </p:nvSpPr>
        <p:spPr>
          <a:xfrm>
            <a:off x="825912" y="3083929"/>
            <a:ext cx="5066713" cy="49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Shape 211">
            <a:extLst>
              <a:ext uri="{FF2B5EF4-FFF2-40B4-BE49-F238E27FC236}">
                <a16:creationId xmlns:a16="http://schemas.microsoft.com/office/drawing/2014/main" id="{D88C540E-F34E-CEA8-524E-5DC1F621F509}"/>
              </a:ext>
            </a:extLst>
          </p:cNvPr>
          <p:cNvSpPr/>
          <p:nvPr/>
        </p:nvSpPr>
        <p:spPr>
          <a:xfrm>
            <a:off x="825913" y="3083929"/>
            <a:ext cx="54864" cy="49000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GB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212">
            <a:extLst>
              <a:ext uri="{FF2B5EF4-FFF2-40B4-BE49-F238E27FC236}">
                <a16:creationId xmlns:a16="http://schemas.microsoft.com/office/drawing/2014/main" id="{5ABEEE46-89F5-C584-7FAF-A5A0458AAE68}"/>
              </a:ext>
            </a:extLst>
          </p:cNvPr>
          <p:cNvSpPr/>
          <p:nvPr/>
        </p:nvSpPr>
        <p:spPr>
          <a:xfrm>
            <a:off x="963073" y="3111361"/>
            <a:ext cx="379476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4795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Healthcare Professionals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 213">
            <a:extLst>
              <a:ext uri="{FF2B5EF4-FFF2-40B4-BE49-F238E27FC236}">
                <a16:creationId xmlns:a16="http://schemas.microsoft.com/office/drawing/2014/main" id="{771AEF27-A6B4-DBCA-D88B-4720D99C0535}"/>
              </a:ext>
            </a:extLst>
          </p:cNvPr>
          <p:cNvSpPr/>
          <p:nvPr/>
        </p:nvSpPr>
        <p:spPr>
          <a:xfrm>
            <a:off x="963073" y="3331361"/>
            <a:ext cx="4772882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risk indicators to inform screening and early intervention guidance.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Shape 220">
            <a:extLst>
              <a:ext uri="{FF2B5EF4-FFF2-40B4-BE49-F238E27FC236}">
                <a16:creationId xmlns:a16="http://schemas.microsoft.com/office/drawing/2014/main" id="{0AC86095-5EE5-523A-6FF1-6785351E1821}"/>
              </a:ext>
            </a:extLst>
          </p:cNvPr>
          <p:cNvSpPr/>
          <p:nvPr/>
        </p:nvSpPr>
        <p:spPr>
          <a:xfrm>
            <a:off x="825912" y="3619797"/>
            <a:ext cx="5066713" cy="49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Shape 221">
            <a:extLst>
              <a:ext uri="{FF2B5EF4-FFF2-40B4-BE49-F238E27FC236}">
                <a16:creationId xmlns:a16="http://schemas.microsoft.com/office/drawing/2014/main" id="{3D8E0240-8B95-5F1D-1A01-0B9724F4A87E}"/>
              </a:ext>
            </a:extLst>
          </p:cNvPr>
          <p:cNvSpPr/>
          <p:nvPr/>
        </p:nvSpPr>
        <p:spPr>
          <a:xfrm>
            <a:off x="825913" y="3619797"/>
            <a:ext cx="54864" cy="49000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GB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222">
            <a:extLst>
              <a:ext uri="{FF2B5EF4-FFF2-40B4-BE49-F238E27FC236}">
                <a16:creationId xmlns:a16="http://schemas.microsoft.com/office/drawing/2014/main" id="{A9F4B888-75BA-1CE2-46E7-2C5569FA9666}"/>
              </a:ext>
            </a:extLst>
          </p:cNvPr>
          <p:cNvSpPr/>
          <p:nvPr/>
        </p:nvSpPr>
        <p:spPr>
          <a:xfrm>
            <a:off x="963073" y="3647229"/>
            <a:ext cx="379476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4795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223">
            <a:extLst>
              <a:ext uri="{FF2B5EF4-FFF2-40B4-BE49-F238E27FC236}">
                <a16:creationId xmlns:a16="http://schemas.microsoft.com/office/drawing/2014/main" id="{E7CF508A-62E8-9CD1-CD2C-AB3D51B7876B}"/>
              </a:ext>
            </a:extLst>
          </p:cNvPr>
          <p:cNvSpPr/>
          <p:nvPr/>
        </p:nvSpPr>
        <p:spPr>
          <a:xfrm>
            <a:off x="963073" y="3867229"/>
            <a:ext cx="4772882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Reflect on personal screen-time habits and their link to sleep, focus &amp; mood.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Shape 230">
            <a:extLst>
              <a:ext uri="{FF2B5EF4-FFF2-40B4-BE49-F238E27FC236}">
                <a16:creationId xmlns:a16="http://schemas.microsoft.com/office/drawing/2014/main" id="{B490894D-D8AC-EE95-5D07-99FEB79D20D0}"/>
              </a:ext>
            </a:extLst>
          </p:cNvPr>
          <p:cNvSpPr/>
          <p:nvPr/>
        </p:nvSpPr>
        <p:spPr>
          <a:xfrm>
            <a:off x="825912" y="4155665"/>
            <a:ext cx="5066713" cy="49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Shape 231">
            <a:extLst>
              <a:ext uri="{FF2B5EF4-FFF2-40B4-BE49-F238E27FC236}">
                <a16:creationId xmlns:a16="http://schemas.microsoft.com/office/drawing/2014/main" id="{7E2A3A47-23B2-501C-582B-958D0C2522BD}"/>
              </a:ext>
            </a:extLst>
          </p:cNvPr>
          <p:cNvSpPr/>
          <p:nvPr/>
        </p:nvSpPr>
        <p:spPr>
          <a:xfrm>
            <a:off x="825913" y="4155665"/>
            <a:ext cx="54864" cy="49000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GB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232">
            <a:extLst>
              <a:ext uri="{FF2B5EF4-FFF2-40B4-BE49-F238E27FC236}">
                <a16:creationId xmlns:a16="http://schemas.microsoft.com/office/drawing/2014/main" id="{E3A18F85-73F6-97A3-6830-C921B2794304}"/>
              </a:ext>
            </a:extLst>
          </p:cNvPr>
          <p:cNvSpPr/>
          <p:nvPr/>
        </p:nvSpPr>
        <p:spPr>
          <a:xfrm>
            <a:off x="963073" y="4183097"/>
            <a:ext cx="379476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4795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Individuals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 233">
            <a:extLst>
              <a:ext uri="{FF2B5EF4-FFF2-40B4-BE49-F238E27FC236}">
                <a16:creationId xmlns:a16="http://schemas.microsoft.com/office/drawing/2014/main" id="{13BAD6B1-A8B1-4993-F131-17FEDC28D80D}"/>
              </a:ext>
            </a:extLst>
          </p:cNvPr>
          <p:cNvSpPr/>
          <p:nvPr/>
        </p:nvSpPr>
        <p:spPr>
          <a:xfrm>
            <a:off x="963073" y="4403097"/>
            <a:ext cx="4772882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Benchmark personal digital habits against population-level norms.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Shape 240">
            <a:extLst>
              <a:ext uri="{FF2B5EF4-FFF2-40B4-BE49-F238E27FC236}">
                <a16:creationId xmlns:a16="http://schemas.microsoft.com/office/drawing/2014/main" id="{077AE08A-EDCE-089D-C893-60FAECF6B3E0}"/>
              </a:ext>
            </a:extLst>
          </p:cNvPr>
          <p:cNvSpPr/>
          <p:nvPr/>
        </p:nvSpPr>
        <p:spPr>
          <a:xfrm>
            <a:off x="825912" y="4691533"/>
            <a:ext cx="5066713" cy="4900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Shape 241">
            <a:extLst>
              <a:ext uri="{FF2B5EF4-FFF2-40B4-BE49-F238E27FC236}">
                <a16:creationId xmlns:a16="http://schemas.microsoft.com/office/drawing/2014/main" id="{BAA26147-5AFA-F099-B84C-84E569E2AB7E}"/>
              </a:ext>
            </a:extLst>
          </p:cNvPr>
          <p:cNvSpPr/>
          <p:nvPr/>
        </p:nvSpPr>
        <p:spPr>
          <a:xfrm>
            <a:off x="825913" y="4691533"/>
            <a:ext cx="54864" cy="49000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GB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242">
            <a:extLst>
              <a:ext uri="{FF2B5EF4-FFF2-40B4-BE49-F238E27FC236}">
                <a16:creationId xmlns:a16="http://schemas.microsoft.com/office/drawing/2014/main" id="{D750C04E-EBC5-EFBB-4A93-63E52DC5DBB8}"/>
              </a:ext>
            </a:extLst>
          </p:cNvPr>
          <p:cNvSpPr/>
          <p:nvPr/>
        </p:nvSpPr>
        <p:spPr>
          <a:xfrm>
            <a:off x="963073" y="4718965"/>
            <a:ext cx="379476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4795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Organizations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243">
            <a:extLst>
              <a:ext uri="{FF2B5EF4-FFF2-40B4-BE49-F238E27FC236}">
                <a16:creationId xmlns:a16="http://schemas.microsoft.com/office/drawing/2014/main" id="{511CFDD2-4E48-BA55-DBEE-850420E991C4}"/>
              </a:ext>
            </a:extLst>
          </p:cNvPr>
          <p:cNvSpPr/>
          <p:nvPr/>
        </p:nvSpPr>
        <p:spPr>
          <a:xfrm>
            <a:off x="963073" y="4938965"/>
            <a:ext cx="4772882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findings to shape digital-wellness policies and awareness programs.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Shape 29">
            <a:extLst>
              <a:ext uri="{FF2B5EF4-FFF2-40B4-BE49-F238E27FC236}">
                <a16:creationId xmlns:a16="http://schemas.microsoft.com/office/drawing/2014/main" id="{0DA23F4E-A48A-CF48-A953-7C4827C562A9}"/>
              </a:ext>
            </a:extLst>
          </p:cNvPr>
          <p:cNvSpPr/>
          <p:nvPr/>
        </p:nvSpPr>
        <p:spPr>
          <a:xfrm>
            <a:off x="6029793" y="2122069"/>
            <a:ext cx="0" cy="3140923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Shape 30">
            <a:extLst>
              <a:ext uri="{FF2B5EF4-FFF2-40B4-BE49-F238E27FC236}">
                <a16:creationId xmlns:a16="http://schemas.microsoft.com/office/drawing/2014/main" id="{0735A7EA-0E92-33CF-F913-EADA1484AF9A}"/>
              </a:ext>
            </a:extLst>
          </p:cNvPr>
          <p:cNvSpPr/>
          <p:nvPr/>
        </p:nvSpPr>
        <p:spPr>
          <a:xfrm>
            <a:off x="6212673" y="2122069"/>
            <a:ext cx="5065776" cy="32004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GB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 31">
            <a:extLst>
              <a:ext uri="{FF2B5EF4-FFF2-40B4-BE49-F238E27FC236}">
                <a16:creationId xmlns:a16="http://schemas.microsoft.com/office/drawing/2014/main" id="{4F10725D-0A90-7CC4-213D-B1BED4C3BD17}"/>
              </a:ext>
            </a:extLst>
          </p:cNvPr>
          <p:cNvSpPr/>
          <p:nvPr/>
        </p:nvSpPr>
        <p:spPr>
          <a:xfrm>
            <a:off x="6212672" y="2122069"/>
            <a:ext cx="506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Features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Shape 32">
            <a:extLst>
              <a:ext uri="{FF2B5EF4-FFF2-40B4-BE49-F238E27FC236}">
                <a16:creationId xmlns:a16="http://schemas.microsoft.com/office/drawing/2014/main" id="{9C37223B-189D-E491-54A6-2122597D0457}"/>
              </a:ext>
            </a:extLst>
          </p:cNvPr>
          <p:cNvSpPr/>
          <p:nvPr/>
        </p:nvSpPr>
        <p:spPr>
          <a:xfrm>
            <a:off x="6212673" y="2506117"/>
            <a:ext cx="5065776" cy="39319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 33">
            <a:extLst>
              <a:ext uri="{FF2B5EF4-FFF2-40B4-BE49-F238E27FC236}">
                <a16:creationId xmlns:a16="http://schemas.microsoft.com/office/drawing/2014/main" id="{386E9FFB-F6E0-E9FC-6BDE-384DC60A271B}"/>
              </a:ext>
            </a:extLst>
          </p:cNvPr>
          <p:cNvSpPr/>
          <p:nvPr/>
        </p:nvSpPr>
        <p:spPr>
          <a:xfrm>
            <a:off x="6285825" y="2542693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36EA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Text 34">
            <a:extLst>
              <a:ext uri="{FF2B5EF4-FFF2-40B4-BE49-F238E27FC236}">
                <a16:creationId xmlns:a16="http://schemas.microsoft.com/office/drawing/2014/main" id="{763D921D-8A77-1BCF-2FE5-2AA4AEB5E99F}"/>
              </a:ext>
            </a:extLst>
          </p:cNvPr>
          <p:cNvSpPr/>
          <p:nvPr/>
        </p:nvSpPr>
        <p:spPr>
          <a:xfrm>
            <a:off x="7858592" y="2542693"/>
            <a:ext cx="33202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12-page interactive Power BI report covering behavior, sleep &amp; mental health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Shape 35">
            <a:extLst>
              <a:ext uri="{FF2B5EF4-FFF2-40B4-BE49-F238E27FC236}">
                <a16:creationId xmlns:a16="http://schemas.microsoft.com/office/drawing/2014/main" id="{58F68115-79CF-93DA-C7EA-97EB83176580}"/>
              </a:ext>
            </a:extLst>
          </p:cNvPr>
          <p:cNvSpPr/>
          <p:nvPr/>
        </p:nvSpPr>
        <p:spPr>
          <a:xfrm>
            <a:off x="6212673" y="2963317"/>
            <a:ext cx="506577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 36">
            <a:extLst>
              <a:ext uri="{FF2B5EF4-FFF2-40B4-BE49-F238E27FC236}">
                <a16:creationId xmlns:a16="http://schemas.microsoft.com/office/drawing/2014/main" id="{C45C3E6F-C464-8590-1281-6CDD24966FB6}"/>
              </a:ext>
            </a:extLst>
          </p:cNvPr>
          <p:cNvSpPr/>
          <p:nvPr/>
        </p:nvSpPr>
        <p:spPr>
          <a:xfrm>
            <a:off x="6285825" y="2999893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36EA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KPIs: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 37">
            <a:extLst>
              <a:ext uri="{FF2B5EF4-FFF2-40B4-BE49-F238E27FC236}">
                <a16:creationId xmlns:a16="http://schemas.microsoft.com/office/drawing/2014/main" id="{791DF793-7D6B-77CF-8542-331B2C3506A5}"/>
              </a:ext>
            </a:extLst>
          </p:cNvPr>
          <p:cNvSpPr/>
          <p:nvPr/>
        </p:nvSpPr>
        <p:spPr>
          <a:xfrm>
            <a:off x="7858592" y="2999893"/>
            <a:ext cx="33202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cards for device hours, unlocks, notifications &amp; risk %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Shape 38">
            <a:extLst>
              <a:ext uri="{FF2B5EF4-FFF2-40B4-BE49-F238E27FC236}">
                <a16:creationId xmlns:a16="http://schemas.microsoft.com/office/drawing/2014/main" id="{71FDB3AA-5A25-23D9-ADB3-9B50E5F1856E}"/>
              </a:ext>
            </a:extLst>
          </p:cNvPr>
          <p:cNvSpPr/>
          <p:nvPr/>
        </p:nvSpPr>
        <p:spPr>
          <a:xfrm>
            <a:off x="6212673" y="3420517"/>
            <a:ext cx="5065776" cy="39319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Text 39">
            <a:extLst>
              <a:ext uri="{FF2B5EF4-FFF2-40B4-BE49-F238E27FC236}">
                <a16:creationId xmlns:a16="http://schemas.microsoft.com/office/drawing/2014/main" id="{D766DB2D-7912-3502-CFE6-AF8B6FD513C8}"/>
              </a:ext>
            </a:extLst>
          </p:cNvPr>
          <p:cNvSpPr/>
          <p:nvPr/>
        </p:nvSpPr>
        <p:spPr>
          <a:xfrm>
            <a:off x="6285825" y="3457093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36EA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Segmentation: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 40">
            <a:extLst>
              <a:ext uri="{FF2B5EF4-FFF2-40B4-BE49-F238E27FC236}">
                <a16:creationId xmlns:a16="http://schemas.microsoft.com/office/drawing/2014/main" id="{762DE678-08FB-EEB3-92D6-E84CF13D9AAA}"/>
              </a:ext>
            </a:extLst>
          </p:cNvPr>
          <p:cNvSpPr/>
          <p:nvPr/>
        </p:nvSpPr>
        <p:spPr>
          <a:xfrm>
            <a:off x="7858592" y="3457093"/>
            <a:ext cx="33202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Grouping by demographics, income, education, occupation &amp; device type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Shape 41">
            <a:extLst>
              <a:ext uri="{FF2B5EF4-FFF2-40B4-BE49-F238E27FC236}">
                <a16:creationId xmlns:a16="http://schemas.microsoft.com/office/drawing/2014/main" id="{1E9C2886-1766-D659-199D-E2DEF018C28A}"/>
              </a:ext>
            </a:extLst>
          </p:cNvPr>
          <p:cNvSpPr/>
          <p:nvPr/>
        </p:nvSpPr>
        <p:spPr>
          <a:xfrm>
            <a:off x="6212673" y="3877717"/>
            <a:ext cx="506577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Text 42">
            <a:extLst>
              <a:ext uri="{FF2B5EF4-FFF2-40B4-BE49-F238E27FC236}">
                <a16:creationId xmlns:a16="http://schemas.microsoft.com/office/drawing/2014/main" id="{CB87C7A3-42D4-48E7-5275-74E954E06666}"/>
              </a:ext>
            </a:extLst>
          </p:cNvPr>
          <p:cNvSpPr/>
          <p:nvPr/>
        </p:nvSpPr>
        <p:spPr>
          <a:xfrm>
            <a:off x="6285825" y="3914293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36EA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Correlation Analysis: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Text 43">
            <a:extLst>
              <a:ext uri="{FF2B5EF4-FFF2-40B4-BE49-F238E27FC236}">
                <a16:creationId xmlns:a16="http://schemas.microsoft.com/office/drawing/2014/main" id="{7EEA7AAF-FAAF-9022-8267-D91183BCE210}"/>
              </a:ext>
            </a:extLst>
          </p:cNvPr>
          <p:cNvSpPr/>
          <p:nvPr/>
        </p:nvSpPr>
        <p:spPr>
          <a:xfrm>
            <a:off x="7858592" y="3914293"/>
            <a:ext cx="33202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Quantifies links between screen time, sleep &amp; depression scores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Shape 44">
            <a:extLst>
              <a:ext uri="{FF2B5EF4-FFF2-40B4-BE49-F238E27FC236}">
                <a16:creationId xmlns:a16="http://schemas.microsoft.com/office/drawing/2014/main" id="{9E2185B4-916D-1595-011B-3136E55BE195}"/>
              </a:ext>
            </a:extLst>
          </p:cNvPr>
          <p:cNvSpPr/>
          <p:nvPr/>
        </p:nvSpPr>
        <p:spPr>
          <a:xfrm>
            <a:off x="6212673" y="4334917"/>
            <a:ext cx="5065776" cy="393192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Text 45">
            <a:extLst>
              <a:ext uri="{FF2B5EF4-FFF2-40B4-BE49-F238E27FC236}">
                <a16:creationId xmlns:a16="http://schemas.microsoft.com/office/drawing/2014/main" id="{889C86A6-67FD-C76B-51E5-F8A03960801F}"/>
              </a:ext>
            </a:extLst>
          </p:cNvPr>
          <p:cNvSpPr/>
          <p:nvPr/>
        </p:nvSpPr>
        <p:spPr>
          <a:xfrm>
            <a:off x="6285825" y="4371493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36EA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Filtering: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" name="Text 46">
            <a:extLst>
              <a:ext uri="{FF2B5EF4-FFF2-40B4-BE49-F238E27FC236}">
                <a16:creationId xmlns:a16="http://schemas.microsoft.com/office/drawing/2014/main" id="{61645CA8-8A36-065A-7A09-BB918D8A3678}"/>
              </a:ext>
            </a:extLst>
          </p:cNvPr>
          <p:cNvSpPr/>
          <p:nvPr/>
        </p:nvSpPr>
        <p:spPr>
          <a:xfrm>
            <a:off x="7858592" y="4371493"/>
            <a:ext cx="33202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 slicers for age, gender, region &amp; risk band across all pages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Shape 47">
            <a:extLst>
              <a:ext uri="{FF2B5EF4-FFF2-40B4-BE49-F238E27FC236}">
                <a16:creationId xmlns:a16="http://schemas.microsoft.com/office/drawing/2014/main" id="{97BD9D7B-CE06-D539-1B50-F2C83FFBE498}"/>
              </a:ext>
            </a:extLst>
          </p:cNvPr>
          <p:cNvSpPr/>
          <p:nvPr/>
        </p:nvSpPr>
        <p:spPr>
          <a:xfrm>
            <a:off x="6212673" y="4792117"/>
            <a:ext cx="5065776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Text 48">
            <a:extLst>
              <a:ext uri="{FF2B5EF4-FFF2-40B4-BE49-F238E27FC236}">
                <a16:creationId xmlns:a16="http://schemas.microsoft.com/office/drawing/2014/main" id="{EFB09782-E6A9-690B-4687-B322E686BAFA}"/>
              </a:ext>
            </a:extLst>
          </p:cNvPr>
          <p:cNvSpPr/>
          <p:nvPr/>
        </p:nvSpPr>
        <p:spPr>
          <a:xfrm>
            <a:off x="6285825" y="4828693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36EA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Risk Detection: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49">
            <a:extLst>
              <a:ext uri="{FF2B5EF4-FFF2-40B4-BE49-F238E27FC236}">
                <a16:creationId xmlns:a16="http://schemas.microsoft.com/office/drawing/2014/main" id="{B7F09340-F7CA-413D-D192-85634563A2F6}"/>
              </a:ext>
            </a:extLst>
          </p:cNvPr>
          <p:cNvSpPr/>
          <p:nvPr/>
        </p:nvSpPr>
        <p:spPr>
          <a:xfrm>
            <a:off x="7858592" y="4828693"/>
            <a:ext cx="332021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Flags the 20.1% of respondents in the high-risk band for follow-up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Shape 7">
            <a:extLst>
              <a:ext uri="{FF2B5EF4-FFF2-40B4-BE49-F238E27FC236}">
                <a16:creationId xmlns:a16="http://schemas.microsoft.com/office/drawing/2014/main" id="{FB5203AE-E204-4417-B7CB-6653DEB7D74A}"/>
              </a:ext>
            </a:extLst>
          </p:cNvPr>
          <p:cNvSpPr/>
          <p:nvPr/>
        </p:nvSpPr>
        <p:spPr>
          <a:xfrm>
            <a:off x="338328" y="1645920"/>
            <a:ext cx="822960" cy="54864"/>
          </a:xfrm>
          <a:prstGeom prst="rect">
            <a:avLst/>
          </a:prstGeom>
          <a:solidFill>
            <a:srgbClr val="D7B11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49">
            <a:extLst>
              <a:ext uri="{FF2B5EF4-FFF2-40B4-BE49-F238E27FC236}">
                <a16:creationId xmlns:a16="http://schemas.microsoft.com/office/drawing/2014/main" id="{1C51ACA0-6E0C-2303-092E-4F57E81A6A69}"/>
              </a:ext>
            </a:extLst>
          </p:cNvPr>
          <p:cNvSpPr/>
          <p:nvPr/>
        </p:nvSpPr>
        <p:spPr>
          <a:xfrm>
            <a:off x="1056298" y="6356350"/>
            <a:ext cx="2296502" cy="365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ar-EG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</a:t>
            </a:r>
            <a:r>
              <a:rPr lang="en-US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/07/2026</a:t>
            </a:r>
          </a:p>
        </p:txBody>
      </p:sp>
    </p:spTree>
    <p:extLst>
      <p:ext uri="{BB962C8B-B14F-4D97-AF65-F5344CB8AC3E}">
        <p14:creationId xmlns:p14="http://schemas.microsoft.com/office/powerpoint/2010/main" val="4032201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97E01F-AFF6-2537-5C05-8F88B43E4D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5" name="Google Shape;110;p1">
            <a:extLst>
              <a:ext uri="{FF2B5EF4-FFF2-40B4-BE49-F238E27FC236}">
                <a16:creationId xmlns:a16="http://schemas.microsoft.com/office/drawing/2014/main" id="{1DF9CFED-1868-D8B1-0DE4-66B7E0FE72FD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73CD2534-1B7E-2425-3426-464D8EC696E4}"/>
              </a:ext>
            </a:extLst>
          </p:cNvPr>
          <p:cNvSpPr/>
          <p:nvPr/>
        </p:nvSpPr>
        <p:spPr>
          <a:xfrm>
            <a:off x="320040" y="1051560"/>
            <a:ext cx="11551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300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BA49C8F5-4693-1857-4711-821391057A19}"/>
              </a:ext>
            </a:extLst>
          </p:cNvPr>
          <p:cNvSpPr/>
          <p:nvPr/>
        </p:nvSpPr>
        <p:spPr>
          <a:xfrm>
            <a:off x="338328" y="1645920"/>
            <a:ext cx="822960" cy="54864"/>
          </a:xfrm>
          <a:prstGeom prst="rect">
            <a:avLst/>
          </a:prstGeom>
          <a:solidFill>
            <a:srgbClr val="D7B119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86FD1E-1F5C-AF3C-B711-5EDBCA816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794" y="1809094"/>
            <a:ext cx="9946105" cy="4356649"/>
          </a:xfrm>
          <a:prstGeom prst="rect">
            <a:avLst/>
          </a:prstGeom>
        </p:spPr>
      </p:pic>
      <p:sp>
        <p:nvSpPr>
          <p:cNvPr id="7" name="Text 49">
            <a:extLst>
              <a:ext uri="{FF2B5EF4-FFF2-40B4-BE49-F238E27FC236}">
                <a16:creationId xmlns:a16="http://schemas.microsoft.com/office/drawing/2014/main" id="{7DB0BBFB-E639-BDC4-FAF2-1A957A363523}"/>
              </a:ext>
            </a:extLst>
          </p:cNvPr>
          <p:cNvSpPr/>
          <p:nvPr/>
        </p:nvSpPr>
        <p:spPr>
          <a:xfrm>
            <a:off x="1056298" y="6356350"/>
            <a:ext cx="2296502" cy="365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ar-EG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</a:t>
            </a:r>
            <a:r>
              <a:rPr lang="en-US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/07/2026</a:t>
            </a:r>
          </a:p>
        </p:txBody>
      </p:sp>
    </p:spTree>
    <p:extLst>
      <p:ext uri="{BB962C8B-B14F-4D97-AF65-F5344CB8AC3E}">
        <p14:creationId xmlns:p14="http://schemas.microsoft.com/office/powerpoint/2010/main" val="594856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508803-226B-CAC5-1003-EDC29F28ED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4" name="Google Shape;110;p1">
            <a:extLst>
              <a:ext uri="{FF2B5EF4-FFF2-40B4-BE49-F238E27FC236}">
                <a16:creationId xmlns:a16="http://schemas.microsoft.com/office/drawing/2014/main" id="{B499002B-78B7-276F-DDCB-8F6B506FE6FF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Shape 35">
            <a:extLst>
              <a:ext uri="{FF2B5EF4-FFF2-40B4-BE49-F238E27FC236}">
                <a16:creationId xmlns:a16="http://schemas.microsoft.com/office/drawing/2014/main" id="{03146313-32FE-E932-99D7-AA23B3DDCCDC}"/>
              </a:ext>
            </a:extLst>
          </p:cNvPr>
          <p:cNvSpPr/>
          <p:nvPr/>
        </p:nvSpPr>
        <p:spPr>
          <a:xfrm>
            <a:off x="6392377" y="1416975"/>
            <a:ext cx="4748325" cy="402487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GB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36">
            <a:extLst>
              <a:ext uri="{FF2B5EF4-FFF2-40B4-BE49-F238E27FC236}">
                <a16:creationId xmlns:a16="http://schemas.microsoft.com/office/drawing/2014/main" id="{31E63A5C-7E9D-7EF7-1E65-CE2A5B3102BB}"/>
              </a:ext>
            </a:extLst>
          </p:cNvPr>
          <p:cNvSpPr/>
          <p:nvPr/>
        </p:nvSpPr>
        <p:spPr>
          <a:xfrm>
            <a:off x="6392377" y="1416974"/>
            <a:ext cx="4748325" cy="402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Medallion Architecture: Data Flow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Shape 37">
            <a:extLst>
              <a:ext uri="{FF2B5EF4-FFF2-40B4-BE49-F238E27FC236}">
                <a16:creationId xmlns:a16="http://schemas.microsoft.com/office/drawing/2014/main" id="{46220FBE-306C-F76B-C35B-97E1C69D1A15}"/>
              </a:ext>
            </a:extLst>
          </p:cNvPr>
          <p:cNvSpPr/>
          <p:nvPr/>
        </p:nvSpPr>
        <p:spPr>
          <a:xfrm>
            <a:off x="6392377" y="1912998"/>
            <a:ext cx="4748325" cy="11068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Shape 38">
            <a:extLst>
              <a:ext uri="{FF2B5EF4-FFF2-40B4-BE49-F238E27FC236}">
                <a16:creationId xmlns:a16="http://schemas.microsoft.com/office/drawing/2014/main" id="{0C5A8462-E122-B3C1-8BCC-93B0384C50F4}"/>
              </a:ext>
            </a:extLst>
          </p:cNvPr>
          <p:cNvSpPr/>
          <p:nvPr/>
        </p:nvSpPr>
        <p:spPr>
          <a:xfrm>
            <a:off x="6392377" y="1912998"/>
            <a:ext cx="867973" cy="1106840"/>
          </a:xfrm>
          <a:prstGeom prst="rect">
            <a:avLst/>
          </a:prstGeom>
          <a:solidFill>
            <a:srgbClr val="CD7F32">
              <a:alpha val="85000"/>
            </a:srgbClr>
          </a:solidFill>
          <a:ln w="12700">
            <a:solidFill>
              <a:srgbClr val="CD7F32"/>
            </a:solidFill>
            <a:prstDash val="solid"/>
          </a:ln>
        </p:spPr>
        <p:txBody>
          <a:bodyPr/>
          <a:lstStyle/>
          <a:p>
            <a:endParaRPr lang="en-GB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39">
            <a:extLst>
              <a:ext uri="{FF2B5EF4-FFF2-40B4-BE49-F238E27FC236}">
                <a16:creationId xmlns:a16="http://schemas.microsoft.com/office/drawing/2014/main" id="{2145AA40-6B67-D827-36C0-EDF62D4B001F}"/>
              </a:ext>
            </a:extLst>
          </p:cNvPr>
          <p:cNvSpPr/>
          <p:nvPr/>
        </p:nvSpPr>
        <p:spPr>
          <a:xfrm>
            <a:off x="6392377" y="1912998"/>
            <a:ext cx="867973" cy="1106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BRONZE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40">
            <a:extLst>
              <a:ext uri="{FF2B5EF4-FFF2-40B4-BE49-F238E27FC236}">
                <a16:creationId xmlns:a16="http://schemas.microsoft.com/office/drawing/2014/main" id="{D762E499-5E31-C66F-0187-0D1A9397C235}"/>
              </a:ext>
            </a:extLst>
          </p:cNvPr>
          <p:cNvSpPr/>
          <p:nvPr/>
        </p:nvSpPr>
        <p:spPr>
          <a:xfrm>
            <a:off x="7362464" y="2087993"/>
            <a:ext cx="3676123" cy="35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File: digital_lifestyle_benchmark_2025.csv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41">
            <a:extLst>
              <a:ext uri="{FF2B5EF4-FFF2-40B4-BE49-F238E27FC236}">
                <a16:creationId xmlns:a16="http://schemas.microsoft.com/office/drawing/2014/main" id="{995B317E-2233-B6BE-25EB-58D5C4281D88}"/>
              </a:ext>
            </a:extLst>
          </p:cNvPr>
          <p:cNvSpPr/>
          <p:nvPr/>
        </p:nvSpPr>
        <p:spPr>
          <a:xfrm>
            <a:off x="7362464" y="2380601"/>
            <a:ext cx="3676123" cy="477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CSV, 100,000 rows × 24 cols, unprocessed as-collected data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42">
            <a:extLst>
              <a:ext uri="{FF2B5EF4-FFF2-40B4-BE49-F238E27FC236}">
                <a16:creationId xmlns:a16="http://schemas.microsoft.com/office/drawing/2014/main" id="{EE27576B-D8C0-6DB8-5382-0110CD934B57}"/>
              </a:ext>
            </a:extLst>
          </p:cNvPr>
          <p:cNvSpPr/>
          <p:nvPr/>
        </p:nvSpPr>
        <p:spPr>
          <a:xfrm>
            <a:off x="8255966" y="2999689"/>
            <a:ext cx="1021145" cy="22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AB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▼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Shape 43">
            <a:extLst>
              <a:ext uri="{FF2B5EF4-FFF2-40B4-BE49-F238E27FC236}">
                <a16:creationId xmlns:a16="http://schemas.microsoft.com/office/drawing/2014/main" id="{D60980E2-44D8-B6A8-D6F1-1313D81421BE}"/>
              </a:ext>
            </a:extLst>
          </p:cNvPr>
          <p:cNvSpPr/>
          <p:nvPr/>
        </p:nvSpPr>
        <p:spPr>
          <a:xfrm>
            <a:off x="6382706" y="3190520"/>
            <a:ext cx="4748325" cy="11068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Shape 44">
            <a:extLst>
              <a:ext uri="{FF2B5EF4-FFF2-40B4-BE49-F238E27FC236}">
                <a16:creationId xmlns:a16="http://schemas.microsoft.com/office/drawing/2014/main" id="{DF8CBE9A-626F-8611-4CE0-E7EFF5E7D3DA}"/>
              </a:ext>
            </a:extLst>
          </p:cNvPr>
          <p:cNvSpPr/>
          <p:nvPr/>
        </p:nvSpPr>
        <p:spPr>
          <a:xfrm>
            <a:off x="6382708" y="3190520"/>
            <a:ext cx="867973" cy="1106840"/>
          </a:xfrm>
          <a:prstGeom prst="rect">
            <a:avLst/>
          </a:prstGeom>
          <a:solidFill>
            <a:srgbClr val="888888">
              <a:alpha val="85000"/>
            </a:srgbClr>
          </a:solidFill>
          <a:ln w="12700">
            <a:solidFill>
              <a:srgbClr val="888888"/>
            </a:solidFill>
            <a:prstDash val="solid"/>
          </a:ln>
        </p:spPr>
        <p:txBody>
          <a:bodyPr/>
          <a:lstStyle/>
          <a:p>
            <a:endParaRPr lang="en-GB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 45">
            <a:extLst>
              <a:ext uri="{FF2B5EF4-FFF2-40B4-BE49-F238E27FC236}">
                <a16:creationId xmlns:a16="http://schemas.microsoft.com/office/drawing/2014/main" id="{911F0B78-498A-93D8-4F7C-DB7E3F9A48BA}"/>
              </a:ext>
            </a:extLst>
          </p:cNvPr>
          <p:cNvSpPr/>
          <p:nvPr/>
        </p:nvSpPr>
        <p:spPr>
          <a:xfrm>
            <a:off x="6382708" y="3190520"/>
            <a:ext cx="867973" cy="1106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SILVER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Text 46">
            <a:extLst>
              <a:ext uri="{FF2B5EF4-FFF2-40B4-BE49-F238E27FC236}">
                <a16:creationId xmlns:a16="http://schemas.microsoft.com/office/drawing/2014/main" id="{187A82BD-FEE7-7FDE-B215-EA06DC501A7F}"/>
              </a:ext>
            </a:extLst>
          </p:cNvPr>
          <p:cNvSpPr/>
          <p:nvPr/>
        </p:nvSpPr>
        <p:spPr>
          <a:xfrm>
            <a:off x="7362464" y="3411152"/>
            <a:ext cx="3676123" cy="35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File: cleaned_digital_lifestyle_data.csv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47">
            <a:extLst>
              <a:ext uri="{FF2B5EF4-FFF2-40B4-BE49-F238E27FC236}">
                <a16:creationId xmlns:a16="http://schemas.microsoft.com/office/drawing/2014/main" id="{DC5CEB77-1C98-F813-47F3-68C81DEEBB71}"/>
              </a:ext>
            </a:extLst>
          </p:cNvPr>
          <p:cNvSpPr/>
          <p:nvPr/>
        </p:nvSpPr>
        <p:spPr>
          <a:xfrm>
            <a:off x="7352794" y="3644474"/>
            <a:ext cx="3676123" cy="477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Validated &amp; standardized, 7 new analytical columns added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48">
            <a:extLst>
              <a:ext uri="{FF2B5EF4-FFF2-40B4-BE49-F238E27FC236}">
                <a16:creationId xmlns:a16="http://schemas.microsoft.com/office/drawing/2014/main" id="{76B09D26-1987-EA41-2C49-0839AE812AAA}"/>
              </a:ext>
            </a:extLst>
          </p:cNvPr>
          <p:cNvSpPr/>
          <p:nvPr/>
        </p:nvSpPr>
        <p:spPr>
          <a:xfrm>
            <a:off x="8255803" y="4277463"/>
            <a:ext cx="1021145" cy="2263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AB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▼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Shape 49">
            <a:extLst>
              <a:ext uri="{FF2B5EF4-FFF2-40B4-BE49-F238E27FC236}">
                <a16:creationId xmlns:a16="http://schemas.microsoft.com/office/drawing/2014/main" id="{ADCB8A70-A9BD-CC19-9E56-C25C2223FF62}"/>
              </a:ext>
            </a:extLst>
          </p:cNvPr>
          <p:cNvSpPr/>
          <p:nvPr/>
        </p:nvSpPr>
        <p:spPr>
          <a:xfrm>
            <a:off x="6382708" y="4513420"/>
            <a:ext cx="4748325" cy="11068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Shape 50">
            <a:extLst>
              <a:ext uri="{FF2B5EF4-FFF2-40B4-BE49-F238E27FC236}">
                <a16:creationId xmlns:a16="http://schemas.microsoft.com/office/drawing/2014/main" id="{BCE29E42-7FFF-6BB8-ECCC-2E6C7016E5A1}"/>
              </a:ext>
            </a:extLst>
          </p:cNvPr>
          <p:cNvSpPr/>
          <p:nvPr/>
        </p:nvSpPr>
        <p:spPr>
          <a:xfrm>
            <a:off x="6382708" y="4513420"/>
            <a:ext cx="867973" cy="1106840"/>
          </a:xfrm>
          <a:prstGeom prst="rect">
            <a:avLst/>
          </a:prstGeom>
          <a:solidFill>
            <a:srgbClr val="D7B119">
              <a:alpha val="85000"/>
            </a:srgbClr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GB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51">
            <a:extLst>
              <a:ext uri="{FF2B5EF4-FFF2-40B4-BE49-F238E27FC236}">
                <a16:creationId xmlns:a16="http://schemas.microsoft.com/office/drawing/2014/main" id="{31282883-39CF-8BC0-710B-5C37993B534B}"/>
              </a:ext>
            </a:extLst>
          </p:cNvPr>
          <p:cNvSpPr/>
          <p:nvPr/>
        </p:nvSpPr>
        <p:spPr>
          <a:xfrm>
            <a:off x="6392377" y="4513420"/>
            <a:ext cx="867973" cy="1106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GOLD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 52">
            <a:extLst>
              <a:ext uri="{FF2B5EF4-FFF2-40B4-BE49-F238E27FC236}">
                <a16:creationId xmlns:a16="http://schemas.microsoft.com/office/drawing/2014/main" id="{67F2D4EA-CED6-6E1C-9A31-8869120EEC16}"/>
              </a:ext>
            </a:extLst>
          </p:cNvPr>
          <p:cNvSpPr/>
          <p:nvPr/>
        </p:nvSpPr>
        <p:spPr>
          <a:xfrm>
            <a:off x="7357630" y="4751314"/>
            <a:ext cx="3676123" cy="35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Tables: fact_digital_lifestyle + 4 dims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Text 53">
            <a:extLst>
              <a:ext uri="{FF2B5EF4-FFF2-40B4-BE49-F238E27FC236}">
                <a16:creationId xmlns:a16="http://schemas.microsoft.com/office/drawing/2014/main" id="{92980018-C079-0640-F647-D4865C44401A}"/>
              </a:ext>
            </a:extLst>
          </p:cNvPr>
          <p:cNvSpPr/>
          <p:nvPr/>
        </p:nvSpPr>
        <p:spPr>
          <a:xfrm>
            <a:off x="7357630" y="4976710"/>
            <a:ext cx="3676123" cy="477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5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 Schema, DAX measures, Power BI ready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F664B653-A3D1-D49E-C8A2-BA47E2D4AF4C}"/>
              </a:ext>
            </a:extLst>
          </p:cNvPr>
          <p:cNvSpPr/>
          <p:nvPr/>
        </p:nvSpPr>
        <p:spPr>
          <a:xfrm>
            <a:off x="320040" y="1051560"/>
            <a:ext cx="11551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</a:t>
            </a:r>
            <a:endParaRPr lang="en-US" sz="3000" dirty="0"/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EC225288-9AFB-2BC1-40A6-783AA71BC735}"/>
              </a:ext>
            </a:extLst>
          </p:cNvPr>
          <p:cNvSpPr/>
          <p:nvPr/>
        </p:nvSpPr>
        <p:spPr>
          <a:xfrm>
            <a:off x="338328" y="1645920"/>
            <a:ext cx="822960" cy="54864"/>
          </a:xfrm>
          <a:prstGeom prst="rect">
            <a:avLst/>
          </a:prstGeom>
          <a:solidFill>
            <a:srgbClr val="D7B11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9" name="Shape 34">
            <a:extLst>
              <a:ext uri="{FF2B5EF4-FFF2-40B4-BE49-F238E27FC236}">
                <a16:creationId xmlns:a16="http://schemas.microsoft.com/office/drawing/2014/main" id="{5A0DC530-4F74-752E-AC4F-7AE9E5CCE91D}"/>
              </a:ext>
            </a:extLst>
          </p:cNvPr>
          <p:cNvSpPr/>
          <p:nvPr/>
        </p:nvSpPr>
        <p:spPr>
          <a:xfrm>
            <a:off x="3331286" y="2072548"/>
            <a:ext cx="9144" cy="1028275"/>
          </a:xfrm>
          <a:prstGeom prst="line">
            <a:avLst/>
          </a:prstGeom>
          <a:noFill/>
          <a:ln w="19050">
            <a:solidFill>
              <a:srgbClr val="C7D9D3"/>
            </a:solidFill>
            <a:prstDash val="solid"/>
          </a:ln>
        </p:spPr>
        <p:txBody>
          <a:bodyPr/>
          <a:lstStyle/>
          <a:p>
            <a:endParaRPr lang="en-GB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Shape 35">
            <a:extLst>
              <a:ext uri="{FF2B5EF4-FFF2-40B4-BE49-F238E27FC236}">
                <a16:creationId xmlns:a16="http://schemas.microsoft.com/office/drawing/2014/main" id="{8DEC116C-C240-6288-6810-57625A376094}"/>
              </a:ext>
            </a:extLst>
          </p:cNvPr>
          <p:cNvSpPr/>
          <p:nvPr/>
        </p:nvSpPr>
        <p:spPr>
          <a:xfrm>
            <a:off x="2124278" y="3261268"/>
            <a:ext cx="1207008" cy="7910"/>
          </a:xfrm>
          <a:prstGeom prst="line">
            <a:avLst/>
          </a:prstGeom>
          <a:noFill/>
          <a:ln w="19050">
            <a:solidFill>
              <a:srgbClr val="C7D9D3"/>
            </a:solidFill>
            <a:prstDash val="solid"/>
          </a:ln>
        </p:spPr>
        <p:txBody>
          <a:bodyPr/>
          <a:lstStyle/>
          <a:p>
            <a:endParaRPr lang="en-GB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1" name="Shape 36">
            <a:extLst>
              <a:ext uri="{FF2B5EF4-FFF2-40B4-BE49-F238E27FC236}">
                <a16:creationId xmlns:a16="http://schemas.microsoft.com/office/drawing/2014/main" id="{7061CF4D-2D56-6CC7-82F3-5404AD69EFC6}"/>
              </a:ext>
            </a:extLst>
          </p:cNvPr>
          <p:cNvSpPr/>
          <p:nvPr/>
        </p:nvSpPr>
        <p:spPr>
          <a:xfrm>
            <a:off x="3331286" y="3261268"/>
            <a:ext cx="1207008" cy="7910"/>
          </a:xfrm>
          <a:prstGeom prst="line">
            <a:avLst/>
          </a:prstGeom>
          <a:noFill/>
          <a:ln w="19050">
            <a:solidFill>
              <a:srgbClr val="C7D9D3"/>
            </a:solidFill>
            <a:prstDash val="solid"/>
          </a:ln>
        </p:spPr>
        <p:txBody>
          <a:bodyPr/>
          <a:lstStyle/>
          <a:p>
            <a:endParaRPr lang="en-GB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Shape 37">
            <a:extLst>
              <a:ext uri="{FF2B5EF4-FFF2-40B4-BE49-F238E27FC236}">
                <a16:creationId xmlns:a16="http://schemas.microsoft.com/office/drawing/2014/main" id="{7C2ABAB2-4F1E-28CF-4137-99F7A0B6942F}"/>
              </a:ext>
            </a:extLst>
          </p:cNvPr>
          <p:cNvSpPr/>
          <p:nvPr/>
        </p:nvSpPr>
        <p:spPr>
          <a:xfrm>
            <a:off x="3331286" y="3261268"/>
            <a:ext cx="9144" cy="1028275"/>
          </a:xfrm>
          <a:prstGeom prst="line">
            <a:avLst/>
          </a:prstGeom>
          <a:noFill/>
          <a:ln w="19050">
            <a:solidFill>
              <a:srgbClr val="C7D9D3"/>
            </a:solidFill>
            <a:prstDash val="solid"/>
          </a:ln>
        </p:spPr>
        <p:txBody>
          <a:bodyPr/>
          <a:lstStyle/>
          <a:p>
            <a:endParaRPr lang="en-GB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Shape 38">
            <a:extLst>
              <a:ext uri="{FF2B5EF4-FFF2-40B4-BE49-F238E27FC236}">
                <a16:creationId xmlns:a16="http://schemas.microsoft.com/office/drawing/2014/main" id="{A36E5208-8766-4727-0640-4673611D5E0E}"/>
              </a:ext>
            </a:extLst>
          </p:cNvPr>
          <p:cNvSpPr/>
          <p:nvPr/>
        </p:nvSpPr>
        <p:spPr>
          <a:xfrm>
            <a:off x="2554046" y="2964088"/>
            <a:ext cx="1554480" cy="514138"/>
          </a:xfrm>
          <a:prstGeom prst="roundRect">
            <a:avLst>
              <a:gd name="adj" fmla="val 10769"/>
            </a:avLst>
          </a:prstGeom>
          <a:solidFill>
            <a:srgbClr val="047954"/>
          </a:solidFill>
          <a:ln/>
          <a:effectLst>
            <a:outerShdw blurRad="88900" dist="38100" dir="5400000" algn="bl" rotWithShape="0">
              <a:srgbClr val="1B2E28">
                <a:alpha val="12000"/>
              </a:srgbClr>
            </a:outerShdw>
          </a:effectLst>
        </p:spPr>
        <p:txBody>
          <a:bodyPr/>
          <a:lstStyle/>
          <a:p>
            <a:endParaRPr lang="en-GB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4" name="Text 39">
            <a:extLst>
              <a:ext uri="{FF2B5EF4-FFF2-40B4-BE49-F238E27FC236}">
                <a16:creationId xmlns:a16="http://schemas.microsoft.com/office/drawing/2014/main" id="{5AE14890-5AC7-C3CE-2200-A700888B94C4}"/>
              </a:ext>
            </a:extLst>
          </p:cNvPr>
          <p:cNvSpPr/>
          <p:nvPr/>
        </p:nvSpPr>
        <p:spPr>
          <a:xfrm>
            <a:off x="2554046" y="2964088"/>
            <a:ext cx="1554480" cy="514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fact_digital_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ctr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lifestyle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5" name="Shape 40">
            <a:extLst>
              <a:ext uri="{FF2B5EF4-FFF2-40B4-BE49-F238E27FC236}">
                <a16:creationId xmlns:a16="http://schemas.microsoft.com/office/drawing/2014/main" id="{CD2DB1A0-5172-8A48-2E5A-067890F224EE}"/>
              </a:ext>
            </a:extLst>
          </p:cNvPr>
          <p:cNvSpPr/>
          <p:nvPr/>
        </p:nvSpPr>
        <p:spPr>
          <a:xfrm>
            <a:off x="2691206" y="1821088"/>
            <a:ext cx="1280160" cy="435040"/>
          </a:xfrm>
          <a:prstGeom prst="roundRect">
            <a:avLst>
              <a:gd name="adj" fmla="val 10909"/>
            </a:avLst>
          </a:prstGeom>
          <a:solidFill>
            <a:srgbClr val="336EA8"/>
          </a:solidFill>
          <a:ln/>
          <a:effectLst>
            <a:outerShdw blurRad="88900" dist="38100" dir="5400000" algn="bl" rotWithShape="0">
              <a:srgbClr val="1B2E28">
                <a:alpha val="12000"/>
              </a:srgbClr>
            </a:outerShdw>
          </a:effectLst>
        </p:spPr>
        <p:txBody>
          <a:bodyPr/>
          <a:lstStyle/>
          <a:p>
            <a:endParaRPr lang="en-GB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" name="Text 41">
            <a:extLst>
              <a:ext uri="{FF2B5EF4-FFF2-40B4-BE49-F238E27FC236}">
                <a16:creationId xmlns:a16="http://schemas.microsoft.com/office/drawing/2014/main" id="{F0672F1C-D583-EF7A-26B0-5255A2EEB1B1}"/>
              </a:ext>
            </a:extLst>
          </p:cNvPr>
          <p:cNvSpPr/>
          <p:nvPr/>
        </p:nvSpPr>
        <p:spPr>
          <a:xfrm>
            <a:off x="2691206" y="1821088"/>
            <a:ext cx="1280160" cy="435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dim_person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7" name="Shape 42">
            <a:extLst>
              <a:ext uri="{FF2B5EF4-FFF2-40B4-BE49-F238E27FC236}">
                <a16:creationId xmlns:a16="http://schemas.microsoft.com/office/drawing/2014/main" id="{E80A0143-3DE4-68A4-4269-36E57F888724}"/>
              </a:ext>
            </a:extLst>
          </p:cNvPr>
          <p:cNvSpPr/>
          <p:nvPr/>
        </p:nvSpPr>
        <p:spPr>
          <a:xfrm>
            <a:off x="843629" y="3043186"/>
            <a:ext cx="1280160" cy="435040"/>
          </a:xfrm>
          <a:prstGeom prst="roundRect">
            <a:avLst>
              <a:gd name="adj" fmla="val 10909"/>
            </a:avLst>
          </a:prstGeom>
          <a:solidFill>
            <a:srgbClr val="336EA8"/>
          </a:solidFill>
          <a:ln/>
          <a:effectLst>
            <a:outerShdw blurRad="88900" dist="38100" dir="5400000" algn="bl" rotWithShape="0">
              <a:srgbClr val="1B2E28">
                <a:alpha val="12000"/>
              </a:srgbClr>
            </a:outerShdw>
          </a:effectLst>
        </p:spPr>
        <p:txBody>
          <a:bodyPr/>
          <a:lstStyle/>
          <a:p>
            <a:endParaRPr lang="en-GB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8" name="Text 43">
            <a:extLst>
              <a:ext uri="{FF2B5EF4-FFF2-40B4-BE49-F238E27FC236}">
                <a16:creationId xmlns:a16="http://schemas.microsoft.com/office/drawing/2014/main" id="{6A7AD172-4439-AAA3-2299-3E115BB8428E}"/>
              </a:ext>
            </a:extLst>
          </p:cNvPr>
          <p:cNvSpPr/>
          <p:nvPr/>
        </p:nvSpPr>
        <p:spPr>
          <a:xfrm>
            <a:off x="826332" y="3034506"/>
            <a:ext cx="1280160" cy="435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dim_device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9" name="Shape 44">
            <a:extLst>
              <a:ext uri="{FF2B5EF4-FFF2-40B4-BE49-F238E27FC236}">
                <a16:creationId xmlns:a16="http://schemas.microsoft.com/office/drawing/2014/main" id="{68E4139F-1316-5798-3EFE-9D9C27BFF8C5}"/>
              </a:ext>
            </a:extLst>
          </p:cNvPr>
          <p:cNvSpPr/>
          <p:nvPr/>
        </p:nvSpPr>
        <p:spPr>
          <a:xfrm>
            <a:off x="4529150" y="3043186"/>
            <a:ext cx="1280160" cy="435040"/>
          </a:xfrm>
          <a:prstGeom prst="roundRect">
            <a:avLst>
              <a:gd name="adj" fmla="val 10909"/>
            </a:avLst>
          </a:prstGeom>
          <a:solidFill>
            <a:srgbClr val="336EA8"/>
          </a:solidFill>
          <a:ln/>
          <a:effectLst>
            <a:outerShdw blurRad="88900" dist="38100" dir="5400000" algn="bl" rotWithShape="0">
              <a:srgbClr val="1B2E28">
                <a:alpha val="12000"/>
              </a:srgbClr>
            </a:outerShdw>
          </a:effectLst>
        </p:spPr>
        <p:txBody>
          <a:bodyPr/>
          <a:lstStyle/>
          <a:p>
            <a:endParaRPr lang="en-GB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0" name="Text 45">
            <a:extLst>
              <a:ext uri="{FF2B5EF4-FFF2-40B4-BE49-F238E27FC236}">
                <a16:creationId xmlns:a16="http://schemas.microsoft.com/office/drawing/2014/main" id="{06354A5B-F7A8-5C64-5CF6-BF90F01281FB}"/>
              </a:ext>
            </a:extLst>
          </p:cNvPr>
          <p:cNvSpPr/>
          <p:nvPr/>
        </p:nvSpPr>
        <p:spPr>
          <a:xfrm>
            <a:off x="4529150" y="3043186"/>
            <a:ext cx="1280160" cy="435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dim_geography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" name="Shape 46">
            <a:extLst>
              <a:ext uri="{FF2B5EF4-FFF2-40B4-BE49-F238E27FC236}">
                <a16:creationId xmlns:a16="http://schemas.microsoft.com/office/drawing/2014/main" id="{A6274127-9979-A489-E789-3BDBB9F9CBE8}"/>
              </a:ext>
            </a:extLst>
          </p:cNvPr>
          <p:cNvSpPr/>
          <p:nvPr/>
        </p:nvSpPr>
        <p:spPr>
          <a:xfrm>
            <a:off x="2691206" y="4198528"/>
            <a:ext cx="1280160" cy="435040"/>
          </a:xfrm>
          <a:prstGeom prst="roundRect">
            <a:avLst>
              <a:gd name="adj" fmla="val 10909"/>
            </a:avLst>
          </a:prstGeom>
          <a:solidFill>
            <a:srgbClr val="336EA8"/>
          </a:solidFill>
          <a:ln/>
          <a:effectLst>
            <a:outerShdw blurRad="88900" dist="38100" dir="5400000" algn="bl" rotWithShape="0">
              <a:srgbClr val="1B2E28">
                <a:alpha val="12000"/>
              </a:srgbClr>
            </a:outerShdw>
          </a:effectLst>
        </p:spPr>
        <p:txBody>
          <a:bodyPr/>
          <a:lstStyle/>
          <a:p>
            <a:endParaRPr lang="en-GB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Text 47">
            <a:extLst>
              <a:ext uri="{FF2B5EF4-FFF2-40B4-BE49-F238E27FC236}">
                <a16:creationId xmlns:a16="http://schemas.microsoft.com/office/drawing/2014/main" id="{2D3B723F-69EA-8355-A2B1-FF06D0DEF8F3}"/>
              </a:ext>
            </a:extLst>
          </p:cNvPr>
          <p:cNvSpPr/>
          <p:nvPr/>
        </p:nvSpPr>
        <p:spPr>
          <a:xfrm>
            <a:off x="2691206" y="4198528"/>
            <a:ext cx="1280160" cy="435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dim_health_profile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" name="Text 48">
            <a:extLst>
              <a:ext uri="{FF2B5EF4-FFF2-40B4-BE49-F238E27FC236}">
                <a16:creationId xmlns:a16="http://schemas.microsoft.com/office/drawing/2014/main" id="{F6830974-3A5D-2C5D-B4E4-9EA0FF3D1BAB}"/>
              </a:ext>
            </a:extLst>
          </p:cNvPr>
          <p:cNvSpPr/>
          <p:nvPr/>
        </p:nvSpPr>
        <p:spPr>
          <a:xfrm>
            <a:off x="898982" y="4860575"/>
            <a:ext cx="3639312" cy="237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95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 Table Key Measures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4" name="Text 49">
            <a:extLst>
              <a:ext uri="{FF2B5EF4-FFF2-40B4-BE49-F238E27FC236}">
                <a16:creationId xmlns:a16="http://schemas.microsoft.com/office/drawing/2014/main" id="{1D20D31D-8A6C-430A-9532-8F8CC4AC2DBC}"/>
              </a:ext>
            </a:extLst>
          </p:cNvPr>
          <p:cNvSpPr/>
          <p:nvPr/>
        </p:nvSpPr>
        <p:spPr>
          <a:xfrm>
            <a:off x="898982" y="5106122"/>
            <a:ext cx="3639312" cy="514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A6B6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 · depression_score · anxiety_score · device_hours_per_day · digital_dependence_score · digital_wellness_score</a:t>
            </a: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49">
            <a:extLst>
              <a:ext uri="{FF2B5EF4-FFF2-40B4-BE49-F238E27FC236}">
                <a16:creationId xmlns:a16="http://schemas.microsoft.com/office/drawing/2014/main" id="{84CD0624-5BB3-0FC9-41CB-36A9F75729E6}"/>
              </a:ext>
            </a:extLst>
          </p:cNvPr>
          <p:cNvSpPr/>
          <p:nvPr/>
        </p:nvSpPr>
        <p:spPr>
          <a:xfrm>
            <a:off x="1056298" y="6356350"/>
            <a:ext cx="2296502" cy="365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ar-EG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</a:t>
            </a:r>
            <a:r>
              <a:rPr lang="en-US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/07/2026</a:t>
            </a:r>
          </a:p>
        </p:txBody>
      </p:sp>
    </p:spTree>
    <p:extLst>
      <p:ext uri="{BB962C8B-B14F-4D97-AF65-F5344CB8AC3E}">
        <p14:creationId xmlns:p14="http://schemas.microsoft.com/office/powerpoint/2010/main" val="3157861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595A9E-43DA-EF85-AA0A-B8F10F03C2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56" name="Text 6">
            <a:extLst>
              <a:ext uri="{FF2B5EF4-FFF2-40B4-BE49-F238E27FC236}">
                <a16:creationId xmlns:a16="http://schemas.microsoft.com/office/drawing/2014/main" id="{799048B5-9D83-FD5C-4484-023E8286A440}"/>
              </a:ext>
            </a:extLst>
          </p:cNvPr>
          <p:cNvSpPr/>
          <p:nvPr/>
        </p:nvSpPr>
        <p:spPr>
          <a:xfrm>
            <a:off x="320040" y="1051560"/>
            <a:ext cx="11551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 and Framework</a:t>
            </a:r>
            <a:endParaRPr lang="en-US" sz="3000" dirty="0"/>
          </a:p>
        </p:txBody>
      </p:sp>
      <p:sp>
        <p:nvSpPr>
          <p:cNvPr id="57" name="Shape 7">
            <a:extLst>
              <a:ext uri="{FF2B5EF4-FFF2-40B4-BE49-F238E27FC236}">
                <a16:creationId xmlns:a16="http://schemas.microsoft.com/office/drawing/2014/main" id="{2B6664F5-D5FA-80BA-C5C1-20A0B314AFDA}"/>
              </a:ext>
            </a:extLst>
          </p:cNvPr>
          <p:cNvSpPr/>
          <p:nvPr/>
        </p:nvSpPr>
        <p:spPr>
          <a:xfrm>
            <a:off x="1009871" y="2097236"/>
            <a:ext cx="822960" cy="54864"/>
          </a:xfrm>
          <a:prstGeom prst="rect">
            <a:avLst/>
          </a:prstGeom>
          <a:solidFill>
            <a:srgbClr val="D7B119"/>
          </a:solidFill>
          <a:ln/>
        </p:spPr>
        <p:txBody>
          <a:bodyPr/>
          <a:lstStyle/>
          <a:p>
            <a:endParaRPr lang="en-GB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Shape 15">
            <a:extLst>
              <a:ext uri="{FF2B5EF4-FFF2-40B4-BE49-F238E27FC236}">
                <a16:creationId xmlns:a16="http://schemas.microsoft.com/office/drawing/2014/main" id="{AC827A29-AE0B-B7A7-4E7B-4B0C26047D4D}"/>
              </a:ext>
            </a:extLst>
          </p:cNvPr>
          <p:cNvSpPr/>
          <p:nvPr/>
        </p:nvSpPr>
        <p:spPr>
          <a:xfrm>
            <a:off x="991583" y="1868636"/>
            <a:ext cx="4736592" cy="21581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Shape 16">
            <a:extLst>
              <a:ext uri="{FF2B5EF4-FFF2-40B4-BE49-F238E27FC236}">
                <a16:creationId xmlns:a16="http://schemas.microsoft.com/office/drawing/2014/main" id="{D49A3D6F-7B72-35B5-30CA-F9572AC70B60}"/>
              </a:ext>
            </a:extLst>
          </p:cNvPr>
          <p:cNvSpPr/>
          <p:nvPr/>
        </p:nvSpPr>
        <p:spPr>
          <a:xfrm>
            <a:off x="991582" y="1868636"/>
            <a:ext cx="4736591" cy="347472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  <p:txBody>
          <a:bodyPr/>
          <a:lstStyle/>
          <a:p>
            <a:endParaRPr lang="en-GB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3" name="Text 17">
            <a:extLst>
              <a:ext uri="{FF2B5EF4-FFF2-40B4-BE49-F238E27FC236}">
                <a16:creationId xmlns:a16="http://schemas.microsoft.com/office/drawing/2014/main" id="{F55340F8-641A-5792-952D-6C0E4DA1000D}"/>
              </a:ext>
            </a:extLst>
          </p:cNvPr>
          <p:cNvSpPr/>
          <p:nvPr/>
        </p:nvSpPr>
        <p:spPr>
          <a:xfrm>
            <a:off x="1083023" y="186863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Programming Languages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Text 18">
            <a:extLst>
              <a:ext uri="{FF2B5EF4-FFF2-40B4-BE49-F238E27FC236}">
                <a16:creationId xmlns:a16="http://schemas.microsoft.com/office/drawing/2014/main" id="{BC8B0722-192F-2609-C15E-721F1D9A64D5}"/>
              </a:ext>
            </a:extLst>
          </p:cNvPr>
          <p:cNvSpPr/>
          <p:nvPr/>
        </p:nvSpPr>
        <p:spPr>
          <a:xfrm>
            <a:off x="1266395" y="2497967"/>
            <a:ext cx="42072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Python: primary language for data cleaning and analysis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Text 20">
            <a:extLst>
              <a:ext uri="{FF2B5EF4-FFF2-40B4-BE49-F238E27FC236}">
                <a16:creationId xmlns:a16="http://schemas.microsoft.com/office/drawing/2014/main" id="{A556BCD6-773A-2714-27B8-3C9B71F25322}"/>
              </a:ext>
            </a:extLst>
          </p:cNvPr>
          <p:cNvSpPr/>
          <p:nvPr/>
        </p:nvSpPr>
        <p:spPr>
          <a:xfrm>
            <a:off x="1254739" y="3079788"/>
            <a:ext cx="420722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DAX: Power BI KPI calculations and measures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ECE7A285-15BB-AEB2-0415-D32BBC6F85A4}"/>
              </a:ext>
            </a:extLst>
          </p:cNvPr>
          <p:cNvSpPr/>
          <p:nvPr/>
        </p:nvSpPr>
        <p:spPr>
          <a:xfrm>
            <a:off x="988533" y="4150975"/>
            <a:ext cx="4739639" cy="2065395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Shape 22">
            <a:extLst>
              <a:ext uri="{FF2B5EF4-FFF2-40B4-BE49-F238E27FC236}">
                <a16:creationId xmlns:a16="http://schemas.microsoft.com/office/drawing/2014/main" id="{F2F57E4B-FC9D-1B7F-3B16-654A1AED2959}"/>
              </a:ext>
            </a:extLst>
          </p:cNvPr>
          <p:cNvSpPr/>
          <p:nvPr/>
        </p:nvSpPr>
        <p:spPr>
          <a:xfrm>
            <a:off x="988532" y="4159829"/>
            <a:ext cx="4739639" cy="347472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  <p:txBody>
          <a:bodyPr/>
          <a:lstStyle/>
          <a:p>
            <a:endParaRPr lang="en-AE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Text 23">
            <a:extLst>
              <a:ext uri="{FF2B5EF4-FFF2-40B4-BE49-F238E27FC236}">
                <a16:creationId xmlns:a16="http://schemas.microsoft.com/office/drawing/2014/main" id="{341F2E87-0468-E015-26B4-C2227D047E67}"/>
              </a:ext>
            </a:extLst>
          </p:cNvPr>
          <p:cNvSpPr/>
          <p:nvPr/>
        </p:nvSpPr>
        <p:spPr>
          <a:xfrm>
            <a:off x="1083022" y="415351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Frameworks &amp; Libraries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Text 24">
            <a:extLst>
              <a:ext uri="{FF2B5EF4-FFF2-40B4-BE49-F238E27FC236}">
                <a16:creationId xmlns:a16="http://schemas.microsoft.com/office/drawing/2014/main" id="{ECA0E692-9D21-18CB-5071-E0A385E96732}"/>
              </a:ext>
            </a:extLst>
          </p:cNvPr>
          <p:cNvSpPr/>
          <p:nvPr/>
        </p:nvSpPr>
        <p:spPr>
          <a:xfrm>
            <a:off x="1266395" y="46990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Pandas: data cleaning &amp; manipulation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Text 25">
            <a:extLst>
              <a:ext uri="{FF2B5EF4-FFF2-40B4-BE49-F238E27FC236}">
                <a16:creationId xmlns:a16="http://schemas.microsoft.com/office/drawing/2014/main" id="{28A5734B-AF2E-00DF-090F-92A7BAD8F2B6}"/>
              </a:ext>
            </a:extLst>
          </p:cNvPr>
          <p:cNvSpPr/>
          <p:nvPr/>
        </p:nvSpPr>
        <p:spPr>
          <a:xfrm>
            <a:off x="1266395" y="49916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NumPy: numerical computations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Text 26">
            <a:extLst>
              <a:ext uri="{FF2B5EF4-FFF2-40B4-BE49-F238E27FC236}">
                <a16:creationId xmlns:a16="http://schemas.microsoft.com/office/drawing/2014/main" id="{85CB58E6-756A-644B-FB5E-AD775023A3C5}"/>
              </a:ext>
            </a:extLst>
          </p:cNvPr>
          <p:cNvSpPr/>
          <p:nvPr/>
        </p:nvSpPr>
        <p:spPr>
          <a:xfrm>
            <a:off x="1266395" y="52842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Matplotlib: exploratory data visualization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Text 27">
            <a:extLst>
              <a:ext uri="{FF2B5EF4-FFF2-40B4-BE49-F238E27FC236}">
                <a16:creationId xmlns:a16="http://schemas.microsoft.com/office/drawing/2014/main" id="{7DA41422-5337-6358-6498-9869FB7887C3}"/>
              </a:ext>
            </a:extLst>
          </p:cNvPr>
          <p:cNvSpPr/>
          <p:nvPr/>
        </p:nvSpPr>
        <p:spPr>
          <a:xfrm>
            <a:off x="1266395" y="55768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Scikit-learn: predictive risk modeling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Shape 28">
            <a:extLst>
              <a:ext uri="{FF2B5EF4-FFF2-40B4-BE49-F238E27FC236}">
                <a16:creationId xmlns:a16="http://schemas.microsoft.com/office/drawing/2014/main" id="{14791D0F-F1FB-BE5A-B2F9-AE96BAD7DE7D}"/>
              </a:ext>
            </a:extLst>
          </p:cNvPr>
          <p:cNvSpPr/>
          <p:nvPr/>
        </p:nvSpPr>
        <p:spPr>
          <a:xfrm>
            <a:off x="6096000" y="1859145"/>
            <a:ext cx="4739640" cy="2167611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Shape 29">
            <a:extLst>
              <a:ext uri="{FF2B5EF4-FFF2-40B4-BE49-F238E27FC236}">
                <a16:creationId xmlns:a16="http://schemas.microsoft.com/office/drawing/2014/main" id="{A2E2CBF9-C4DF-490C-C9D5-9DD2E97328B6}"/>
              </a:ext>
            </a:extLst>
          </p:cNvPr>
          <p:cNvSpPr/>
          <p:nvPr/>
        </p:nvSpPr>
        <p:spPr>
          <a:xfrm>
            <a:off x="6096000" y="1868636"/>
            <a:ext cx="4739640" cy="347472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  <p:txBody>
          <a:bodyPr/>
          <a:lstStyle/>
          <a:p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Text 30">
            <a:extLst>
              <a:ext uri="{FF2B5EF4-FFF2-40B4-BE49-F238E27FC236}">
                <a16:creationId xmlns:a16="http://schemas.microsoft.com/office/drawing/2014/main" id="{86984669-BE6B-43A8-F2B1-C58E781BCA0C}"/>
              </a:ext>
            </a:extLst>
          </p:cNvPr>
          <p:cNvSpPr/>
          <p:nvPr/>
        </p:nvSpPr>
        <p:spPr>
          <a:xfrm>
            <a:off x="6164826" y="1878468"/>
            <a:ext cx="45793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&amp; Platforms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" name="Text 31">
            <a:extLst>
              <a:ext uri="{FF2B5EF4-FFF2-40B4-BE49-F238E27FC236}">
                <a16:creationId xmlns:a16="http://schemas.microsoft.com/office/drawing/2014/main" id="{3AD9E446-87CD-DAB5-5C70-57FB4CB2CBD1}"/>
              </a:ext>
            </a:extLst>
          </p:cNvPr>
          <p:cNvSpPr/>
          <p:nvPr/>
        </p:nvSpPr>
        <p:spPr>
          <a:xfrm>
            <a:off x="6281337" y="2355312"/>
            <a:ext cx="4190017" cy="282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Microsoft Excel: data preparation &amp; querying</a:t>
            </a:r>
            <a:endParaRPr lang="ar-EG" sz="1600" dirty="0">
              <a:solidFill>
                <a:srgbClr val="1A1A1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Text 32">
            <a:extLst>
              <a:ext uri="{FF2B5EF4-FFF2-40B4-BE49-F238E27FC236}">
                <a16:creationId xmlns:a16="http://schemas.microsoft.com/office/drawing/2014/main" id="{121D9C79-AB1A-69A6-CED3-E565DBF7A42B}"/>
              </a:ext>
            </a:extLst>
          </p:cNvPr>
          <p:cNvSpPr/>
          <p:nvPr/>
        </p:nvSpPr>
        <p:spPr>
          <a:xfrm>
            <a:off x="6281338" y="26479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Power BI: 11-page interactive dashboard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Text 33">
            <a:extLst>
              <a:ext uri="{FF2B5EF4-FFF2-40B4-BE49-F238E27FC236}">
                <a16:creationId xmlns:a16="http://schemas.microsoft.com/office/drawing/2014/main" id="{D0E87042-2448-0815-B1AC-194C8D2266B7}"/>
              </a:ext>
            </a:extLst>
          </p:cNvPr>
          <p:cNvSpPr/>
          <p:nvPr/>
        </p:nvSpPr>
        <p:spPr>
          <a:xfrm>
            <a:off x="6281337" y="2940528"/>
            <a:ext cx="42883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Google </a:t>
            </a:r>
            <a:r>
              <a:rPr lang="en-US" sz="1600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Colab</a:t>
            </a:r>
            <a:r>
              <a:rPr lang="en-US" sz="16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python development environment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Text 34">
            <a:extLst>
              <a:ext uri="{FF2B5EF4-FFF2-40B4-BE49-F238E27FC236}">
                <a16:creationId xmlns:a16="http://schemas.microsoft.com/office/drawing/2014/main" id="{00801CF2-59CD-3D54-EA4E-DEFDE5DBE474}"/>
              </a:ext>
            </a:extLst>
          </p:cNvPr>
          <p:cNvSpPr/>
          <p:nvPr/>
        </p:nvSpPr>
        <p:spPr>
          <a:xfrm>
            <a:off x="6281338" y="32795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Hugging Face: dataset source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" name="Shape 35">
            <a:extLst>
              <a:ext uri="{FF2B5EF4-FFF2-40B4-BE49-F238E27FC236}">
                <a16:creationId xmlns:a16="http://schemas.microsoft.com/office/drawing/2014/main" id="{A3A9BE79-F4F6-B0CB-3F57-690656B872DA}"/>
              </a:ext>
            </a:extLst>
          </p:cNvPr>
          <p:cNvSpPr/>
          <p:nvPr/>
        </p:nvSpPr>
        <p:spPr>
          <a:xfrm>
            <a:off x="6096000" y="4155807"/>
            <a:ext cx="4739640" cy="2060563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GB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2" name="Shape 36">
            <a:extLst>
              <a:ext uri="{FF2B5EF4-FFF2-40B4-BE49-F238E27FC236}">
                <a16:creationId xmlns:a16="http://schemas.microsoft.com/office/drawing/2014/main" id="{E7C083E6-5402-B79D-72A3-858B6FAA4968}"/>
              </a:ext>
            </a:extLst>
          </p:cNvPr>
          <p:cNvSpPr/>
          <p:nvPr/>
        </p:nvSpPr>
        <p:spPr>
          <a:xfrm>
            <a:off x="6096000" y="4150975"/>
            <a:ext cx="4739640" cy="347472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  <p:txBody>
          <a:bodyPr/>
          <a:lstStyle/>
          <a:p>
            <a:endParaRPr lang="en-GB" sz="2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Text 37">
            <a:extLst>
              <a:ext uri="{FF2B5EF4-FFF2-40B4-BE49-F238E27FC236}">
                <a16:creationId xmlns:a16="http://schemas.microsoft.com/office/drawing/2014/main" id="{5A59EF57-EF63-4BB2-36FF-3C972616D000}"/>
              </a:ext>
            </a:extLst>
          </p:cNvPr>
          <p:cNvSpPr/>
          <p:nvPr/>
        </p:nvSpPr>
        <p:spPr>
          <a:xfrm>
            <a:off x="6164826" y="415463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&amp; Delivery Formats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" name="Text 38">
            <a:extLst>
              <a:ext uri="{FF2B5EF4-FFF2-40B4-BE49-F238E27FC236}">
                <a16:creationId xmlns:a16="http://schemas.microsoft.com/office/drawing/2014/main" id="{A25EB79D-20F2-8BD1-5F69-FF8DAC106AF8}"/>
              </a:ext>
            </a:extLst>
          </p:cNvPr>
          <p:cNvSpPr/>
          <p:nvPr/>
        </p:nvSpPr>
        <p:spPr>
          <a:xfrm>
            <a:off x="6281337" y="46990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CSV: Gold layer storage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" name="Text 39">
            <a:extLst>
              <a:ext uri="{FF2B5EF4-FFF2-40B4-BE49-F238E27FC236}">
                <a16:creationId xmlns:a16="http://schemas.microsoft.com/office/drawing/2014/main" id="{EBBDDAD7-3B63-01FC-5216-9EACB1058C96}"/>
              </a:ext>
            </a:extLst>
          </p:cNvPr>
          <p:cNvSpPr/>
          <p:nvPr/>
        </p:nvSpPr>
        <p:spPr>
          <a:xfrm>
            <a:off x="6281337" y="49916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PBIX:  final Power BI dashboard file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6" name="Text 40">
            <a:extLst>
              <a:ext uri="{FF2B5EF4-FFF2-40B4-BE49-F238E27FC236}">
                <a16:creationId xmlns:a16="http://schemas.microsoft.com/office/drawing/2014/main" id="{DD6AF7CF-0A32-38CF-D2F6-A9CD08A62FF1}"/>
              </a:ext>
            </a:extLst>
          </p:cNvPr>
          <p:cNvSpPr/>
          <p:nvPr/>
        </p:nvSpPr>
        <p:spPr>
          <a:xfrm>
            <a:off x="6281337" y="52842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Star Schema: fact + 4-dimension tables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Text 41">
            <a:extLst>
              <a:ext uri="{FF2B5EF4-FFF2-40B4-BE49-F238E27FC236}">
                <a16:creationId xmlns:a16="http://schemas.microsoft.com/office/drawing/2014/main" id="{E0B6EB56-4F87-4006-76C5-4A1B321D6EDD}"/>
              </a:ext>
            </a:extLst>
          </p:cNvPr>
          <p:cNvSpPr/>
          <p:nvPr/>
        </p:nvSpPr>
        <p:spPr>
          <a:xfrm>
            <a:off x="6281337" y="55768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Direct Power BI: Excel/CSV integration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1384A040-FD99-E99B-12FE-2C203C789AEE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hape 7">
            <a:extLst>
              <a:ext uri="{FF2B5EF4-FFF2-40B4-BE49-F238E27FC236}">
                <a16:creationId xmlns:a16="http://schemas.microsoft.com/office/drawing/2014/main" id="{FB018501-CAF0-10DB-2300-9AF30712DE8D}"/>
              </a:ext>
            </a:extLst>
          </p:cNvPr>
          <p:cNvSpPr/>
          <p:nvPr/>
        </p:nvSpPr>
        <p:spPr>
          <a:xfrm>
            <a:off x="338328" y="1645920"/>
            <a:ext cx="822960" cy="54864"/>
          </a:xfrm>
          <a:prstGeom prst="rect">
            <a:avLst/>
          </a:prstGeom>
          <a:solidFill>
            <a:srgbClr val="D7B11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1">
            <a:extLst>
              <a:ext uri="{FF2B5EF4-FFF2-40B4-BE49-F238E27FC236}">
                <a16:creationId xmlns:a16="http://schemas.microsoft.com/office/drawing/2014/main" id="{26BEB741-B2FF-ACC9-A6B3-F057D88FC7D7}"/>
              </a:ext>
            </a:extLst>
          </p:cNvPr>
          <p:cNvSpPr/>
          <p:nvPr/>
        </p:nvSpPr>
        <p:spPr>
          <a:xfrm>
            <a:off x="6281337" y="3589169"/>
            <a:ext cx="4190017" cy="282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ar-EG" sz="1600" dirty="0">
              <a:solidFill>
                <a:srgbClr val="1A1A1A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 34">
            <a:extLst>
              <a:ext uri="{FF2B5EF4-FFF2-40B4-BE49-F238E27FC236}">
                <a16:creationId xmlns:a16="http://schemas.microsoft.com/office/drawing/2014/main" id="{ADD32DE4-C6C0-DF4F-0D32-A46304A48B6E}"/>
              </a:ext>
            </a:extLst>
          </p:cNvPr>
          <p:cNvSpPr/>
          <p:nvPr/>
        </p:nvSpPr>
        <p:spPr>
          <a:xfrm>
            <a:off x="6281337" y="3599295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Figma: Dashboards design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49">
            <a:extLst>
              <a:ext uri="{FF2B5EF4-FFF2-40B4-BE49-F238E27FC236}">
                <a16:creationId xmlns:a16="http://schemas.microsoft.com/office/drawing/2014/main" id="{6A56C70E-4142-F2EA-45BB-8968C2ED3974}"/>
              </a:ext>
            </a:extLst>
          </p:cNvPr>
          <p:cNvSpPr/>
          <p:nvPr/>
        </p:nvSpPr>
        <p:spPr>
          <a:xfrm>
            <a:off x="1056298" y="6356350"/>
            <a:ext cx="2296502" cy="365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ar-EG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</a:t>
            </a:r>
            <a:r>
              <a:rPr lang="en-US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/07/2026</a:t>
            </a:r>
          </a:p>
        </p:txBody>
      </p:sp>
    </p:spTree>
    <p:extLst>
      <p:ext uri="{BB962C8B-B14F-4D97-AF65-F5344CB8AC3E}">
        <p14:creationId xmlns:p14="http://schemas.microsoft.com/office/powerpoint/2010/main" val="3405708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A9109-2A4C-567E-7338-34C4A205C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32BE39-D0C4-8EB9-D408-A416CAE770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 dirty="0"/>
          </a:p>
        </p:txBody>
      </p:sp>
      <p:sp>
        <p:nvSpPr>
          <p:cNvPr id="130" name="Text 6">
            <a:extLst>
              <a:ext uri="{FF2B5EF4-FFF2-40B4-BE49-F238E27FC236}">
                <a16:creationId xmlns:a16="http://schemas.microsoft.com/office/drawing/2014/main" id="{58529183-53FF-E015-C866-BE22A889014C}"/>
              </a:ext>
            </a:extLst>
          </p:cNvPr>
          <p:cNvSpPr/>
          <p:nvPr/>
        </p:nvSpPr>
        <p:spPr>
          <a:xfrm>
            <a:off x="320040" y="1051560"/>
            <a:ext cx="11551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 + Test</a:t>
            </a:r>
            <a:endParaRPr lang="en-US" sz="3000" dirty="0"/>
          </a:p>
        </p:txBody>
      </p:sp>
      <p:sp>
        <p:nvSpPr>
          <p:cNvPr id="131" name="Shape 7">
            <a:extLst>
              <a:ext uri="{FF2B5EF4-FFF2-40B4-BE49-F238E27FC236}">
                <a16:creationId xmlns:a16="http://schemas.microsoft.com/office/drawing/2014/main" id="{7C59A5F7-A14F-E923-C7E6-0CC0D733D730}"/>
              </a:ext>
            </a:extLst>
          </p:cNvPr>
          <p:cNvSpPr/>
          <p:nvPr/>
        </p:nvSpPr>
        <p:spPr>
          <a:xfrm>
            <a:off x="338328" y="1645920"/>
            <a:ext cx="822960" cy="54864"/>
          </a:xfrm>
          <a:prstGeom prst="rect">
            <a:avLst/>
          </a:prstGeom>
          <a:solidFill>
            <a:srgbClr val="D7B11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" name="CardBg40">
            <a:extLst>
              <a:ext uri="{FF2B5EF4-FFF2-40B4-BE49-F238E27FC236}">
                <a16:creationId xmlns:a16="http://schemas.microsoft.com/office/drawing/2014/main" id="{19E1A08F-69D3-BB7D-850E-D2C88C354EA6}"/>
              </a:ext>
            </a:extLst>
          </p:cNvPr>
          <p:cNvSpPr/>
          <p:nvPr/>
        </p:nvSpPr>
        <p:spPr>
          <a:xfrm>
            <a:off x="6096000" y="1906440"/>
            <a:ext cx="5608000" cy="3900000"/>
          </a:xfrm>
          <a:prstGeom prst="rect">
            <a:avLst/>
          </a:prstGeom>
          <a:solidFill>
            <a:srgbClr val="FDF6E3"/>
          </a:solidFill>
          <a:ln w="9525">
            <a:solidFill>
              <a:srgbClr val="D7B119"/>
            </a:solidFill>
          </a:ln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ardHdr40">
            <a:extLst>
              <a:ext uri="{FF2B5EF4-FFF2-40B4-BE49-F238E27FC236}">
                <a16:creationId xmlns:a16="http://schemas.microsoft.com/office/drawing/2014/main" id="{D7E33414-730B-E9F8-6D43-5989ACF368C4}"/>
              </a:ext>
            </a:extLst>
          </p:cNvPr>
          <p:cNvSpPr/>
          <p:nvPr/>
        </p:nvSpPr>
        <p:spPr>
          <a:xfrm>
            <a:off x="6096000" y="1906440"/>
            <a:ext cx="5608000" cy="80000"/>
          </a:xfrm>
          <a:prstGeom prst="rect">
            <a:avLst/>
          </a:prstGeom>
          <a:solidFill>
            <a:srgbClr val="D7B119"/>
          </a:solidFill>
          <a:ln/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stHead">
            <a:extLst>
              <a:ext uri="{FF2B5EF4-FFF2-40B4-BE49-F238E27FC236}">
                <a16:creationId xmlns:a16="http://schemas.microsoft.com/office/drawing/2014/main" id="{A65C0DDA-CD97-9963-9590-9073DD4A6E1C}"/>
              </a:ext>
            </a:extLst>
          </p:cNvPr>
          <p:cNvSpPr/>
          <p:nvPr/>
        </p:nvSpPr>
        <p:spPr>
          <a:xfrm>
            <a:off x="6176000" y="2026440"/>
            <a:ext cx="5448000" cy="3200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4795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Testing &amp; Validation</a:t>
            </a:r>
          </a:p>
        </p:txBody>
      </p:sp>
      <p:sp>
        <p:nvSpPr>
          <p:cNvPr id="6" name="chkDot50">
            <a:extLst>
              <a:ext uri="{FF2B5EF4-FFF2-40B4-BE49-F238E27FC236}">
                <a16:creationId xmlns:a16="http://schemas.microsoft.com/office/drawing/2014/main" id="{B0189DCB-2C53-6971-13B7-61C29C8F9D20}"/>
              </a:ext>
            </a:extLst>
          </p:cNvPr>
          <p:cNvSpPr/>
          <p:nvPr/>
        </p:nvSpPr>
        <p:spPr>
          <a:xfrm>
            <a:off x="6176000" y="2406440"/>
            <a:ext cx="55000" cy="280000"/>
          </a:xfrm>
          <a:prstGeom prst="rect">
            <a:avLst/>
          </a:prstGeom>
          <a:solidFill>
            <a:srgbClr val="047954"/>
          </a:solidFill>
          <a:ln/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hkLbl50">
            <a:extLst>
              <a:ext uri="{FF2B5EF4-FFF2-40B4-BE49-F238E27FC236}">
                <a16:creationId xmlns:a16="http://schemas.microsoft.com/office/drawing/2014/main" id="{6502459A-830D-CB35-C851-25F92D9B2341}"/>
              </a:ext>
            </a:extLst>
          </p:cNvPr>
          <p:cNvSpPr/>
          <p:nvPr/>
        </p:nvSpPr>
        <p:spPr>
          <a:xfrm>
            <a:off x="6256000" y="2406440"/>
            <a:ext cx="5368000" cy="28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4795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  Data Validation</a:t>
            </a:r>
          </a:p>
        </p:txBody>
      </p:sp>
      <p:sp>
        <p:nvSpPr>
          <p:cNvPr id="8" name="chkDesc50">
            <a:extLst>
              <a:ext uri="{FF2B5EF4-FFF2-40B4-BE49-F238E27FC236}">
                <a16:creationId xmlns:a16="http://schemas.microsoft.com/office/drawing/2014/main" id="{6BA81FFF-D1D3-6B08-1FF3-96FD3B1DF92D}"/>
              </a:ext>
            </a:extLst>
          </p:cNvPr>
          <p:cNvSpPr/>
          <p:nvPr/>
        </p:nvSpPr>
        <p:spPr>
          <a:xfrm>
            <a:off x="6256000" y="2691440"/>
            <a:ext cx="5368000" cy="20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Zero missing values detected across all 100,000 rows</a:t>
            </a:r>
          </a:p>
        </p:txBody>
      </p:sp>
      <p:sp>
        <p:nvSpPr>
          <p:cNvPr id="9" name="chkDot53">
            <a:extLst>
              <a:ext uri="{FF2B5EF4-FFF2-40B4-BE49-F238E27FC236}">
                <a16:creationId xmlns:a16="http://schemas.microsoft.com/office/drawing/2014/main" id="{20795790-08E8-4C1D-26C0-E50FCCACEEA0}"/>
              </a:ext>
            </a:extLst>
          </p:cNvPr>
          <p:cNvSpPr/>
          <p:nvPr/>
        </p:nvSpPr>
        <p:spPr>
          <a:xfrm>
            <a:off x="6176000" y="2946440"/>
            <a:ext cx="55000" cy="280000"/>
          </a:xfrm>
          <a:prstGeom prst="rect">
            <a:avLst/>
          </a:prstGeom>
          <a:solidFill>
            <a:srgbClr val="0FAB7D"/>
          </a:solidFill>
          <a:ln/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chkLbl53">
            <a:extLst>
              <a:ext uri="{FF2B5EF4-FFF2-40B4-BE49-F238E27FC236}">
                <a16:creationId xmlns:a16="http://schemas.microsoft.com/office/drawing/2014/main" id="{F5EA868D-46BF-BCE2-6528-F3743A900204}"/>
              </a:ext>
            </a:extLst>
          </p:cNvPr>
          <p:cNvSpPr/>
          <p:nvPr/>
        </p:nvSpPr>
        <p:spPr>
          <a:xfrm>
            <a:off x="6256000" y="2946440"/>
            <a:ext cx="5368000" cy="28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AB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  Missing Value Check</a:t>
            </a:r>
          </a:p>
        </p:txBody>
      </p:sp>
      <p:sp>
        <p:nvSpPr>
          <p:cNvPr id="11" name="chkDesc53">
            <a:extLst>
              <a:ext uri="{FF2B5EF4-FFF2-40B4-BE49-F238E27FC236}">
                <a16:creationId xmlns:a16="http://schemas.microsoft.com/office/drawing/2014/main" id="{DFD0E75B-FDD0-3138-2D84-9ECEC1C54387}"/>
              </a:ext>
            </a:extLst>
          </p:cNvPr>
          <p:cNvSpPr/>
          <p:nvPr/>
        </p:nvSpPr>
        <p:spPr>
          <a:xfrm>
            <a:off x="6256000" y="3231440"/>
            <a:ext cx="5368000" cy="20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isnull().sum() confirmed — all 24 columns fully populated</a:t>
            </a:r>
          </a:p>
        </p:txBody>
      </p:sp>
      <p:sp>
        <p:nvSpPr>
          <p:cNvPr id="12" name="chkDot56">
            <a:extLst>
              <a:ext uri="{FF2B5EF4-FFF2-40B4-BE49-F238E27FC236}">
                <a16:creationId xmlns:a16="http://schemas.microsoft.com/office/drawing/2014/main" id="{0EB5812D-69FE-EE60-634E-434FE7614E7C}"/>
              </a:ext>
            </a:extLst>
          </p:cNvPr>
          <p:cNvSpPr/>
          <p:nvPr/>
        </p:nvSpPr>
        <p:spPr>
          <a:xfrm>
            <a:off x="6176000" y="3486440"/>
            <a:ext cx="55000" cy="280000"/>
          </a:xfrm>
          <a:prstGeom prst="rect">
            <a:avLst/>
          </a:prstGeom>
          <a:solidFill>
            <a:srgbClr val="336EA8"/>
          </a:solidFill>
          <a:ln/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chkLbl56">
            <a:extLst>
              <a:ext uri="{FF2B5EF4-FFF2-40B4-BE49-F238E27FC236}">
                <a16:creationId xmlns:a16="http://schemas.microsoft.com/office/drawing/2014/main" id="{1E4F5568-422E-2678-9E44-25366D76D29C}"/>
              </a:ext>
            </a:extLst>
          </p:cNvPr>
          <p:cNvSpPr/>
          <p:nvPr/>
        </p:nvSpPr>
        <p:spPr>
          <a:xfrm>
            <a:off x="6256000" y="3486440"/>
            <a:ext cx="5368000" cy="28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6EA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  Duplicate Check</a:t>
            </a:r>
          </a:p>
        </p:txBody>
      </p:sp>
      <p:sp>
        <p:nvSpPr>
          <p:cNvPr id="14" name="chkDesc56">
            <a:extLst>
              <a:ext uri="{FF2B5EF4-FFF2-40B4-BE49-F238E27FC236}">
                <a16:creationId xmlns:a16="http://schemas.microsoft.com/office/drawing/2014/main" id="{813904C3-AE77-869D-D3DE-8A0FEE141F93}"/>
              </a:ext>
            </a:extLst>
          </p:cNvPr>
          <p:cNvSpPr/>
          <p:nvPr/>
        </p:nvSpPr>
        <p:spPr>
          <a:xfrm>
            <a:off x="6256000" y="3771440"/>
            <a:ext cx="5368000" cy="20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id.duplicated() confirmed — zero duplicate records found</a:t>
            </a:r>
          </a:p>
        </p:txBody>
      </p:sp>
      <p:sp>
        <p:nvSpPr>
          <p:cNvPr id="15" name="chkDot59">
            <a:extLst>
              <a:ext uri="{FF2B5EF4-FFF2-40B4-BE49-F238E27FC236}">
                <a16:creationId xmlns:a16="http://schemas.microsoft.com/office/drawing/2014/main" id="{167F23B7-21FA-73C3-4AFC-74AB920F1816}"/>
              </a:ext>
            </a:extLst>
          </p:cNvPr>
          <p:cNvSpPr/>
          <p:nvPr/>
        </p:nvSpPr>
        <p:spPr>
          <a:xfrm>
            <a:off x="6176000" y="4026440"/>
            <a:ext cx="55000" cy="280000"/>
          </a:xfrm>
          <a:prstGeom prst="rect">
            <a:avLst/>
          </a:prstGeom>
          <a:solidFill>
            <a:srgbClr val="D7B119"/>
          </a:solidFill>
          <a:ln/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chkLbl59">
            <a:extLst>
              <a:ext uri="{FF2B5EF4-FFF2-40B4-BE49-F238E27FC236}">
                <a16:creationId xmlns:a16="http://schemas.microsoft.com/office/drawing/2014/main" id="{BCF82A2B-9736-FFC6-3A26-392D6D184C7A}"/>
              </a:ext>
            </a:extLst>
          </p:cNvPr>
          <p:cNvSpPr/>
          <p:nvPr/>
        </p:nvSpPr>
        <p:spPr>
          <a:xfrm>
            <a:off x="6256000" y="4026440"/>
            <a:ext cx="5368000" cy="28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7B1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  Business Rule Validation</a:t>
            </a:r>
          </a:p>
        </p:txBody>
      </p:sp>
      <p:sp>
        <p:nvSpPr>
          <p:cNvPr id="17" name="chkDesc59">
            <a:extLst>
              <a:ext uri="{FF2B5EF4-FFF2-40B4-BE49-F238E27FC236}">
                <a16:creationId xmlns:a16="http://schemas.microsoft.com/office/drawing/2014/main" id="{F9648343-BFF8-92DB-4773-BECFFCBF0F8C}"/>
              </a:ext>
            </a:extLst>
          </p:cNvPr>
          <p:cNvSpPr/>
          <p:nvPr/>
        </p:nvSpPr>
        <p:spPr>
          <a:xfrm>
            <a:off x="6256000" y="4311440"/>
            <a:ext cx="5368000" cy="20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 10–100  ·  Sleep 0–24h  ·  Activity 0–7 days enforced</a:t>
            </a:r>
          </a:p>
        </p:txBody>
      </p:sp>
      <p:sp>
        <p:nvSpPr>
          <p:cNvPr id="18" name="chkDot62">
            <a:extLst>
              <a:ext uri="{FF2B5EF4-FFF2-40B4-BE49-F238E27FC236}">
                <a16:creationId xmlns:a16="http://schemas.microsoft.com/office/drawing/2014/main" id="{181144BC-31AC-67FD-3DB9-161BDE07AE7E}"/>
              </a:ext>
            </a:extLst>
          </p:cNvPr>
          <p:cNvSpPr/>
          <p:nvPr/>
        </p:nvSpPr>
        <p:spPr>
          <a:xfrm>
            <a:off x="6176000" y="4566440"/>
            <a:ext cx="55000" cy="280000"/>
          </a:xfrm>
          <a:prstGeom prst="rect">
            <a:avLst/>
          </a:prstGeom>
          <a:solidFill>
            <a:srgbClr val="047954"/>
          </a:solidFill>
          <a:ln/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hkLbl62">
            <a:extLst>
              <a:ext uri="{FF2B5EF4-FFF2-40B4-BE49-F238E27FC236}">
                <a16:creationId xmlns:a16="http://schemas.microsoft.com/office/drawing/2014/main" id="{59970F7B-2FB7-997A-F438-DBB3837BAF69}"/>
              </a:ext>
            </a:extLst>
          </p:cNvPr>
          <p:cNvSpPr/>
          <p:nvPr/>
        </p:nvSpPr>
        <p:spPr>
          <a:xfrm>
            <a:off x="6256000" y="4566440"/>
            <a:ext cx="5368000" cy="28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4795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  KPI Verification</a:t>
            </a:r>
          </a:p>
        </p:txBody>
      </p:sp>
      <p:sp>
        <p:nvSpPr>
          <p:cNvPr id="20" name="chkDesc62">
            <a:extLst>
              <a:ext uri="{FF2B5EF4-FFF2-40B4-BE49-F238E27FC236}">
                <a16:creationId xmlns:a16="http://schemas.microsoft.com/office/drawing/2014/main" id="{02252EE1-0785-89F6-E37E-9F2B1AE07594}"/>
              </a:ext>
            </a:extLst>
          </p:cNvPr>
          <p:cNvSpPr/>
          <p:nvPr/>
        </p:nvSpPr>
        <p:spPr>
          <a:xfrm>
            <a:off x="6256000" y="4851440"/>
            <a:ext cx="5368000" cy="20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totals cross-checked against Gold-layer aggregates</a:t>
            </a:r>
          </a:p>
        </p:txBody>
      </p:sp>
      <p:sp>
        <p:nvSpPr>
          <p:cNvPr id="21" name="chkDot65">
            <a:extLst>
              <a:ext uri="{FF2B5EF4-FFF2-40B4-BE49-F238E27FC236}">
                <a16:creationId xmlns:a16="http://schemas.microsoft.com/office/drawing/2014/main" id="{22D0FD40-EE64-1DA3-12BD-76DA5815C9DC}"/>
              </a:ext>
            </a:extLst>
          </p:cNvPr>
          <p:cNvSpPr/>
          <p:nvPr/>
        </p:nvSpPr>
        <p:spPr>
          <a:xfrm>
            <a:off x="6176000" y="5106440"/>
            <a:ext cx="55000" cy="280000"/>
          </a:xfrm>
          <a:prstGeom prst="rect">
            <a:avLst/>
          </a:prstGeom>
          <a:solidFill>
            <a:srgbClr val="0FAB7D"/>
          </a:solidFill>
          <a:ln/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chkLbl65">
            <a:extLst>
              <a:ext uri="{FF2B5EF4-FFF2-40B4-BE49-F238E27FC236}">
                <a16:creationId xmlns:a16="http://schemas.microsoft.com/office/drawing/2014/main" id="{73E2E973-B2AE-5C32-4033-D7FFDCC044F0}"/>
              </a:ext>
            </a:extLst>
          </p:cNvPr>
          <p:cNvSpPr/>
          <p:nvPr/>
        </p:nvSpPr>
        <p:spPr>
          <a:xfrm>
            <a:off x="6256000" y="5106440"/>
            <a:ext cx="5368000" cy="28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AB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  Dashboard Testing</a:t>
            </a:r>
          </a:p>
        </p:txBody>
      </p:sp>
      <p:sp>
        <p:nvSpPr>
          <p:cNvPr id="23" name="chkDesc65">
            <a:extLst>
              <a:ext uri="{FF2B5EF4-FFF2-40B4-BE49-F238E27FC236}">
                <a16:creationId xmlns:a16="http://schemas.microsoft.com/office/drawing/2014/main" id="{4830BCC4-69EA-B16E-57B3-F4B0D8CD8BF2}"/>
              </a:ext>
            </a:extLst>
          </p:cNvPr>
          <p:cNvSpPr/>
          <p:nvPr/>
        </p:nvSpPr>
        <p:spPr>
          <a:xfrm>
            <a:off x="6256000" y="5391440"/>
            <a:ext cx="5368000" cy="20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12 pages tested: slicers, cross-filter &amp; visual consistency</a:t>
            </a:r>
          </a:p>
        </p:txBody>
      </p:sp>
      <p:pic>
        <p:nvPicPr>
          <p:cNvPr id="24" name="Google Shape;110;p1">
            <a:extLst>
              <a:ext uri="{FF2B5EF4-FFF2-40B4-BE49-F238E27FC236}">
                <a16:creationId xmlns:a16="http://schemas.microsoft.com/office/drawing/2014/main" id="{58355AAA-B73D-EE57-3FD6-E307F0B50A11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Shape 14">
            <a:extLst>
              <a:ext uri="{FF2B5EF4-FFF2-40B4-BE49-F238E27FC236}">
                <a16:creationId xmlns:a16="http://schemas.microsoft.com/office/drawing/2014/main" id="{BA63082F-8349-3A07-66BB-801CE3665BEB}"/>
              </a:ext>
            </a:extLst>
          </p:cNvPr>
          <p:cNvSpPr/>
          <p:nvPr/>
        </p:nvSpPr>
        <p:spPr>
          <a:xfrm>
            <a:off x="568000" y="1906440"/>
            <a:ext cx="5074920" cy="868680"/>
          </a:xfrm>
          <a:prstGeom prst="rect">
            <a:avLst/>
          </a:prstGeom>
          <a:solidFill>
            <a:srgbClr val="FBF3DC"/>
          </a:solidFill>
          <a:ln w="12700">
            <a:solidFill>
              <a:srgbClr val="EFE3B8"/>
            </a:solidFill>
            <a:prstDash val="solid"/>
          </a:ln>
          <a:effectLst>
            <a:outerShdw blurRad="76200" dist="25400" dir="5400000" algn="bl" rotWithShape="0">
              <a:srgbClr val="1B2E28">
                <a:alpha val="12000"/>
              </a:srgbClr>
            </a:outerShdw>
          </a:effectLst>
        </p:spPr>
        <p:txBody>
          <a:bodyPr/>
          <a:lstStyle/>
          <a:p>
            <a:endParaRPr lang="en-GB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96045AE8-6AA2-A508-53D2-3E173B4EC5AF}"/>
              </a:ext>
            </a:extLst>
          </p:cNvPr>
          <p:cNvSpPr/>
          <p:nvPr/>
        </p:nvSpPr>
        <p:spPr>
          <a:xfrm>
            <a:off x="568000" y="1906440"/>
            <a:ext cx="5074920" cy="64008"/>
          </a:xfrm>
          <a:prstGeom prst="rect">
            <a:avLst/>
          </a:prstGeom>
          <a:solidFill>
            <a:srgbClr val="047954"/>
          </a:solidFill>
          <a:ln/>
        </p:spPr>
        <p:txBody>
          <a:bodyPr/>
          <a:lstStyle/>
          <a:p>
            <a:endParaRPr lang="en-GB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1CA81CA6-A81A-451C-57E8-C64B69853BAE}"/>
              </a:ext>
            </a:extLst>
          </p:cNvPr>
          <p:cNvSpPr/>
          <p:nvPr/>
        </p:nvSpPr>
        <p:spPr>
          <a:xfrm>
            <a:off x="769168" y="2034456"/>
            <a:ext cx="4672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4795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Live Application Status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C179AEE6-00F1-5157-CB66-2C7B9C938BCC}"/>
              </a:ext>
            </a:extLst>
          </p:cNvPr>
          <p:cNvSpPr/>
          <p:nvPr/>
        </p:nvSpPr>
        <p:spPr>
          <a:xfrm>
            <a:off x="769168" y="2327064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047954"/>
          </a:solidFill>
          <a:ln/>
        </p:spPr>
        <p:txBody>
          <a:bodyPr/>
          <a:lstStyle/>
          <a:p>
            <a:endParaRPr lang="en-GB"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85CFE777-5592-597A-16A9-AB2B75DE5F5E}"/>
              </a:ext>
            </a:extLst>
          </p:cNvPr>
          <p:cNvSpPr/>
          <p:nvPr/>
        </p:nvSpPr>
        <p:spPr>
          <a:xfrm>
            <a:off x="769168" y="2327064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PRODUCTION-READY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235ECB25-48B6-85B6-2F4E-59CF8EFC5843}"/>
              </a:ext>
            </a:extLst>
          </p:cNvPr>
          <p:cNvSpPr/>
          <p:nvPr/>
        </p:nvSpPr>
        <p:spPr>
          <a:xfrm>
            <a:off x="2305360" y="2308776"/>
            <a:ext cx="3154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A6B6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11-page Power BI dashboard built on the Gold-layer star schema, first prototyped in Figma.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20">
            <a:extLst>
              <a:ext uri="{FF2B5EF4-FFF2-40B4-BE49-F238E27FC236}">
                <a16:creationId xmlns:a16="http://schemas.microsoft.com/office/drawing/2014/main" id="{42185CDA-CD36-E10F-F22B-FD519E7E3FA5}"/>
              </a:ext>
            </a:extLst>
          </p:cNvPr>
          <p:cNvSpPr/>
          <p:nvPr/>
        </p:nvSpPr>
        <p:spPr>
          <a:xfrm>
            <a:off x="575620" y="298564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B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Testing Phases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Shape 21">
            <a:extLst>
              <a:ext uri="{FF2B5EF4-FFF2-40B4-BE49-F238E27FC236}">
                <a16:creationId xmlns:a16="http://schemas.microsoft.com/office/drawing/2014/main" id="{1D28464A-01E8-913A-5F8E-4D535D0ED2DF}"/>
              </a:ext>
            </a:extLst>
          </p:cNvPr>
          <p:cNvSpPr/>
          <p:nvPr/>
        </p:nvSpPr>
        <p:spPr>
          <a:xfrm>
            <a:off x="575620" y="3325284"/>
            <a:ext cx="5074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E9"/>
            </a:solidFill>
            <a:prstDash val="solid"/>
          </a:ln>
          <a:effectLst>
            <a:outerShdw blurRad="76200" dist="25400" dir="5400000" algn="bl" rotWithShape="0">
              <a:srgbClr val="1B2E28">
                <a:alpha val="12000"/>
              </a:srgbClr>
            </a:outerShdw>
          </a:effectLst>
        </p:spPr>
        <p:txBody>
          <a:bodyPr/>
          <a:lstStyle/>
          <a:p>
            <a:endParaRPr lang="en-GB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Shape 22">
            <a:extLst>
              <a:ext uri="{FF2B5EF4-FFF2-40B4-BE49-F238E27FC236}">
                <a16:creationId xmlns:a16="http://schemas.microsoft.com/office/drawing/2014/main" id="{5A6CC290-6135-2667-5609-AA10CF7A515E}"/>
              </a:ext>
            </a:extLst>
          </p:cNvPr>
          <p:cNvSpPr/>
          <p:nvPr/>
        </p:nvSpPr>
        <p:spPr>
          <a:xfrm>
            <a:off x="575620" y="3325284"/>
            <a:ext cx="64008" cy="658368"/>
          </a:xfrm>
          <a:prstGeom prst="rect">
            <a:avLst/>
          </a:prstGeom>
          <a:solidFill>
            <a:srgbClr val="047954"/>
          </a:solidFill>
          <a:ln/>
        </p:spPr>
        <p:txBody>
          <a:bodyPr/>
          <a:lstStyle/>
          <a:p>
            <a:endParaRPr lang="en-GB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Shape 23">
            <a:extLst>
              <a:ext uri="{FF2B5EF4-FFF2-40B4-BE49-F238E27FC236}">
                <a16:creationId xmlns:a16="http://schemas.microsoft.com/office/drawing/2014/main" id="{58351705-9034-E390-93D0-8AB35A54136F}"/>
              </a:ext>
            </a:extLst>
          </p:cNvPr>
          <p:cNvSpPr/>
          <p:nvPr/>
        </p:nvSpPr>
        <p:spPr>
          <a:xfrm>
            <a:off x="758500" y="3462444"/>
            <a:ext cx="384048" cy="384048"/>
          </a:xfrm>
          <a:prstGeom prst="ellipse">
            <a:avLst/>
          </a:prstGeom>
          <a:solidFill>
            <a:srgbClr val="047954"/>
          </a:solidFill>
          <a:ln/>
        </p:spPr>
        <p:txBody>
          <a:bodyPr/>
          <a:lstStyle/>
          <a:p>
            <a:endParaRPr lang="en-GB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4" name="Image 1" descr="preencoded.png">
            <a:extLst>
              <a:ext uri="{FF2B5EF4-FFF2-40B4-BE49-F238E27FC236}">
                <a16:creationId xmlns:a16="http://schemas.microsoft.com/office/drawing/2014/main" id="{17BFF477-DC32-AA73-DD7A-0586B93D4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426" y="3512370"/>
            <a:ext cx="284196" cy="284196"/>
          </a:xfrm>
          <a:prstGeom prst="rect">
            <a:avLst/>
          </a:prstGeom>
        </p:spPr>
      </p:pic>
      <p:sp>
        <p:nvSpPr>
          <p:cNvPr id="45" name="Text 24">
            <a:extLst>
              <a:ext uri="{FF2B5EF4-FFF2-40B4-BE49-F238E27FC236}">
                <a16:creationId xmlns:a16="http://schemas.microsoft.com/office/drawing/2014/main" id="{1C6122EF-E1CD-7C84-DB30-4C6DF7C823F0}"/>
              </a:ext>
            </a:extLst>
          </p:cNvPr>
          <p:cNvSpPr/>
          <p:nvPr/>
        </p:nvSpPr>
        <p:spPr>
          <a:xfrm>
            <a:off x="1288852" y="3380148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B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  Data &amp; Business-Rule Validation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25">
            <a:extLst>
              <a:ext uri="{FF2B5EF4-FFF2-40B4-BE49-F238E27FC236}">
                <a16:creationId xmlns:a16="http://schemas.microsoft.com/office/drawing/2014/main" id="{866D632A-6859-A23D-94CF-BF21B20E652F}"/>
              </a:ext>
            </a:extLst>
          </p:cNvPr>
          <p:cNvSpPr/>
          <p:nvPr/>
        </p:nvSpPr>
        <p:spPr>
          <a:xfrm>
            <a:off x="1288852" y="358580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B6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100,000 rows × 24 columns checked for missing values, duplicates &amp; valid ranges (age 10–100, sleep 0–24h, activity 0–7 days)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Shape 26">
            <a:extLst>
              <a:ext uri="{FF2B5EF4-FFF2-40B4-BE49-F238E27FC236}">
                <a16:creationId xmlns:a16="http://schemas.microsoft.com/office/drawing/2014/main" id="{74C7B26C-7A99-56D7-CE17-30F9DA730F49}"/>
              </a:ext>
            </a:extLst>
          </p:cNvPr>
          <p:cNvSpPr/>
          <p:nvPr/>
        </p:nvSpPr>
        <p:spPr>
          <a:xfrm>
            <a:off x="575620" y="4093380"/>
            <a:ext cx="5074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E9"/>
            </a:solidFill>
            <a:prstDash val="solid"/>
          </a:ln>
          <a:effectLst>
            <a:outerShdw blurRad="76200" dist="25400" dir="5400000" algn="bl" rotWithShape="0">
              <a:srgbClr val="1B2E28">
                <a:alpha val="12000"/>
              </a:srgbClr>
            </a:outerShdw>
          </a:effectLst>
        </p:spPr>
        <p:txBody>
          <a:bodyPr/>
          <a:lstStyle/>
          <a:p>
            <a:endParaRPr lang="en-GB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Shape 27">
            <a:extLst>
              <a:ext uri="{FF2B5EF4-FFF2-40B4-BE49-F238E27FC236}">
                <a16:creationId xmlns:a16="http://schemas.microsoft.com/office/drawing/2014/main" id="{B4FAEC1F-FFB1-A43D-4EFF-19361D87990F}"/>
              </a:ext>
            </a:extLst>
          </p:cNvPr>
          <p:cNvSpPr/>
          <p:nvPr/>
        </p:nvSpPr>
        <p:spPr>
          <a:xfrm>
            <a:off x="575620" y="4093380"/>
            <a:ext cx="64008" cy="658368"/>
          </a:xfrm>
          <a:prstGeom prst="rect">
            <a:avLst/>
          </a:prstGeom>
          <a:solidFill>
            <a:srgbClr val="336EA8"/>
          </a:solidFill>
          <a:ln/>
        </p:spPr>
        <p:txBody>
          <a:bodyPr/>
          <a:lstStyle/>
          <a:p>
            <a:endParaRPr lang="en-GB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Shape 28">
            <a:extLst>
              <a:ext uri="{FF2B5EF4-FFF2-40B4-BE49-F238E27FC236}">
                <a16:creationId xmlns:a16="http://schemas.microsoft.com/office/drawing/2014/main" id="{0EBE29B4-F7C7-61E6-A0C2-9C372F01AFAC}"/>
              </a:ext>
            </a:extLst>
          </p:cNvPr>
          <p:cNvSpPr/>
          <p:nvPr/>
        </p:nvSpPr>
        <p:spPr>
          <a:xfrm>
            <a:off x="758500" y="4230540"/>
            <a:ext cx="384048" cy="384048"/>
          </a:xfrm>
          <a:prstGeom prst="ellipse">
            <a:avLst/>
          </a:prstGeom>
          <a:solidFill>
            <a:srgbClr val="336EA8"/>
          </a:solidFill>
          <a:ln/>
        </p:spPr>
        <p:txBody>
          <a:bodyPr/>
          <a:lstStyle/>
          <a:p>
            <a:endParaRPr lang="en-GB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0" name="Image 2" descr="preencoded.png">
            <a:extLst>
              <a:ext uri="{FF2B5EF4-FFF2-40B4-BE49-F238E27FC236}">
                <a16:creationId xmlns:a16="http://schemas.microsoft.com/office/drawing/2014/main" id="{9E0319C6-896A-E27F-984B-A9065D47DA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690" y="4280466"/>
            <a:ext cx="284196" cy="284196"/>
          </a:xfrm>
          <a:prstGeom prst="rect">
            <a:avLst/>
          </a:prstGeom>
        </p:spPr>
      </p:pic>
      <p:sp>
        <p:nvSpPr>
          <p:cNvPr id="51" name="Text 29">
            <a:extLst>
              <a:ext uri="{FF2B5EF4-FFF2-40B4-BE49-F238E27FC236}">
                <a16:creationId xmlns:a16="http://schemas.microsoft.com/office/drawing/2014/main" id="{FAC4A391-A11C-9E86-BEA5-95437397E6D1}"/>
              </a:ext>
            </a:extLst>
          </p:cNvPr>
          <p:cNvSpPr/>
          <p:nvPr/>
        </p:nvSpPr>
        <p:spPr>
          <a:xfrm>
            <a:off x="1288852" y="4148244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B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  Model Integration Testing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30">
            <a:extLst>
              <a:ext uri="{FF2B5EF4-FFF2-40B4-BE49-F238E27FC236}">
                <a16:creationId xmlns:a16="http://schemas.microsoft.com/office/drawing/2014/main" id="{3E3CC88B-1C70-E417-856F-0633CACA7458}"/>
              </a:ext>
            </a:extLst>
          </p:cNvPr>
          <p:cNvSpPr/>
          <p:nvPr/>
        </p:nvSpPr>
        <p:spPr>
          <a:xfrm>
            <a:off x="1288852" y="43559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B6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Gold-layer fact &amp; dimension tables (star schema) integrated and validated inside the Power BI data model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" name="Shape 31">
            <a:extLst>
              <a:ext uri="{FF2B5EF4-FFF2-40B4-BE49-F238E27FC236}">
                <a16:creationId xmlns:a16="http://schemas.microsoft.com/office/drawing/2014/main" id="{91CBEFA1-6B58-C19D-6072-ACD208B7C27B}"/>
              </a:ext>
            </a:extLst>
          </p:cNvPr>
          <p:cNvSpPr/>
          <p:nvPr/>
        </p:nvSpPr>
        <p:spPr>
          <a:xfrm>
            <a:off x="575620" y="4861476"/>
            <a:ext cx="5074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E9"/>
            </a:solidFill>
            <a:prstDash val="solid"/>
          </a:ln>
          <a:effectLst>
            <a:outerShdw blurRad="76200" dist="25400" dir="5400000" algn="bl" rotWithShape="0">
              <a:srgbClr val="1B2E28">
                <a:alpha val="12000"/>
              </a:srgbClr>
            </a:outerShdw>
          </a:effectLst>
        </p:spPr>
        <p:txBody>
          <a:bodyPr/>
          <a:lstStyle/>
          <a:p>
            <a:endParaRPr lang="en-GB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Shape 32">
            <a:extLst>
              <a:ext uri="{FF2B5EF4-FFF2-40B4-BE49-F238E27FC236}">
                <a16:creationId xmlns:a16="http://schemas.microsoft.com/office/drawing/2014/main" id="{5E95F5B7-E49C-D234-D05C-BCBEF217E676}"/>
              </a:ext>
            </a:extLst>
          </p:cNvPr>
          <p:cNvSpPr/>
          <p:nvPr/>
        </p:nvSpPr>
        <p:spPr>
          <a:xfrm>
            <a:off x="575620" y="4861476"/>
            <a:ext cx="64008" cy="658368"/>
          </a:xfrm>
          <a:prstGeom prst="rect">
            <a:avLst/>
          </a:prstGeom>
          <a:solidFill>
            <a:srgbClr val="D7B119"/>
          </a:solidFill>
          <a:ln/>
        </p:spPr>
        <p:txBody>
          <a:bodyPr/>
          <a:lstStyle/>
          <a:p>
            <a:endParaRPr lang="en-GB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Shape 33">
            <a:extLst>
              <a:ext uri="{FF2B5EF4-FFF2-40B4-BE49-F238E27FC236}">
                <a16:creationId xmlns:a16="http://schemas.microsoft.com/office/drawing/2014/main" id="{F2BBDE90-E49C-E928-0ABE-E9F80702607A}"/>
              </a:ext>
            </a:extLst>
          </p:cNvPr>
          <p:cNvSpPr/>
          <p:nvPr/>
        </p:nvSpPr>
        <p:spPr>
          <a:xfrm>
            <a:off x="758500" y="4998636"/>
            <a:ext cx="384048" cy="384048"/>
          </a:xfrm>
          <a:prstGeom prst="ellipse">
            <a:avLst/>
          </a:prstGeom>
          <a:solidFill>
            <a:srgbClr val="D7B119"/>
          </a:solidFill>
          <a:ln/>
        </p:spPr>
        <p:txBody>
          <a:bodyPr/>
          <a:lstStyle/>
          <a:p>
            <a:endParaRPr lang="en-GB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6" name="Image 3" descr="preencoded.png">
            <a:extLst>
              <a:ext uri="{FF2B5EF4-FFF2-40B4-BE49-F238E27FC236}">
                <a16:creationId xmlns:a16="http://schemas.microsoft.com/office/drawing/2014/main" id="{F65DCB9D-287C-20E3-451B-78465A8498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426" y="5048562"/>
            <a:ext cx="284196" cy="284196"/>
          </a:xfrm>
          <a:prstGeom prst="rect">
            <a:avLst/>
          </a:prstGeom>
        </p:spPr>
      </p:pic>
      <p:sp>
        <p:nvSpPr>
          <p:cNvPr id="57" name="Text 34">
            <a:extLst>
              <a:ext uri="{FF2B5EF4-FFF2-40B4-BE49-F238E27FC236}">
                <a16:creationId xmlns:a16="http://schemas.microsoft.com/office/drawing/2014/main" id="{33FB8CA1-269E-8859-7AF3-2DAE7336F705}"/>
              </a:ext>
            </a:extLst>
          </p:cNvPr>
          <p:cNvSpPr/>
          <p:nvPr/>
        </p:nvSpPr>
        <p:spPr>
          <a:xfrm>
            <a:off x="1288852" y="491634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B2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3.  Dashboard &amp; KPI Testing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Text 35">
            <a:extLst>
              <a:ext uri="{FF2B5EF4-FFF2-40B4-BE49-F238E27FC236}">
                <a16:creationId xmlns:a16="http://schemas.microsoft.com/office/drawing/2014/main" id="{6D4F449B-00E6-0111-6C4A-0BA64AA10247}"/>
              </a:ext>
            </a:extLst>
          </p:cNvPr>
          <p:cNvSpPr/>
          <p:nvPr/>
        </p:nvSpPr>
        <p:spPr>
          <a:xfrm>
            <a:off x="1288852" y="50788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A6B6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11 pages and KPI cards verified against Gold-layer aggregates before publishing</a:t>
            </a:r>
            <a:endParaRPr lang="en-US" sz="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49">
            <a:extLst>
              <a:ext uri="{FF2B5EF4-FFF2-40B4-BE49-F238E27FC236}">
                <a16:creationId xmlns:a16="http://schemas.microsoft.com/office/drawing/2014/main" id="{BD88F6A2-2B1D-FA34-B364-50C5AD90C98D}"/>
              </a:ext>
            </a:extLst>
          </p:cNvPr>
          <p:cNvSpPr/>
          <p:nvPr/>
        </p:nvSpPr>
        <p:spPr>
          <a:xfrm>
            <a:off x="1056298" y="6356350"/>
            <a:ext cx="2296502" cy="365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ar-EG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</a:t>
            </a:r>
            <a:r>
              <a:rPr lang="en-US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/07/2026</a:t>
            </a:r>
          </a:p>
        </p:txBody>
      </p:sp>
    </p:spTree>
    <p:extLst>
      <p:ext uri="{BB962C8B-B14F-4D97-AF65-F5344CB8AC3E}">
        <p14:creationId xmlns:p14="http://schemas.microsoft.com/office/powerpoint/2010/main" val="3004009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57200" y="1929384"/>
            <a:ext cx="11109960" cy="677390"/>
          </a:xfrm>
          <a:prstGeom prst="rect">
            <a:avLst/>
          </a:prstGeom>
          <a:solidFill>
            <a:srgbClr val="D7B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2033120"/>
            <a:ext cx="10569475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 i="0" dirty="0">
                <a:solidFill>
                  <a:srgbClr val="1B2E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💡  Key Finding: Device usage hours show the strongest link to depression scores (r = 0.80)</a:t>
            </a:r>
            <a:r>
              <a:rPr lang="en-US" sz="1600" b="1" i="0" dirty="0">
                <a:solidFill>
                  <a:srgbClr val="1B2E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sz="1600" b="1" i="0" dirty="0">
                <a:solidFill>
                  <a:srgbClr val="1B2E2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stronger than any single demographic factor.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38774"/>
            <a:ext cx="5394960" cy="502920"/>
          </a:xfrm>
          <a:prstGeom prst="rect">
            <a:avLst/>
          </a:prstGeom>
          <a:solidFill>
            <a:srgbClr val="0FA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2851735"/>
            <a:ext cx="50292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Behavioral Correlations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41693"/>
            <a:ext cx="5394960" cy="2893635"/>
          </a:xfrm>
          <a:prstGeom prst="rect">
            <a:avLst/>
          </a:prstGeom>
          <a:solidFill>
            <a:srgbClr val="F4F9F7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sz="20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3470294"/>
            <a:ext cx="4937760" cy="25173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lnSpc>
                <a:spcPct val="105000"/>
              </a:lnSpc>
              <a:spcAft>
                <a:spcPts val="1400"/>
              </a:spcAft>
              <a:buFont typeface="Arial"/>
              <a:buChar char="•"/>
            </a:pPr>
            <a:r>
              <a:rPr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Device hours vs depression: r = 0.80 (strongest predictor)</a:t>
            </a:r>
          </a:p>
          <a:p>
            <a:pPr marL="228600" indent="-228600" algn="l">
              <a:lnSpc>
                <a:spcPct val="105000"/>
              </a:lnSpc>
              <a:spcAft>
                <a:spcPts val="1400"/>
              </a:spcAft>
              <a:buFont typeface="Arial"/>
              <a:buChar char="•"/>
            </a:pPr>
            <a:r>
              <a:rPr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Digital dependence vs depression: r = 0.71</a:t>
            </a:r>
          </a:p>
          <a:p>
            <a:pPr marL="228600" indent="-228600" algn="l">
              <a:lnSpc>
                <a:spcPct val="105000"/>
              </a:lnSpc>
              <a:spcAft>
                <a:spcPts val="1400"/>
              </a:spcAft>
              <a:buFont typeface="Arial"/>
              <a:buChar char="•"/>
            </a:pPr>
            <a:r>
              <a:rPr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Notifications vs focus score: r = -0.70</a:t>
            </a:r>
          </a:p>
          <a:p>
            <a:pPr marL="228600" indent="-228600" algn="l">
              <a:lnSpc>
                <a:spcPct val="105000"/>
              </a:lnSpc>
              <a:spcAft>
                <a:spcPts val="1400"/>
              </a:spcAft>
              <a:buFont typeface="Arial"/>
              <a:buChar char="•"/>
            </a:pPr>
            <a:r>
              <a:rPr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Sleep hours vs depression: r = -0.48 (protective effect)</a:t>
            </a:r>
          </a:p>
          <a:p>
            <a:pPr marL="228600" indent="-228600" algn="l">
              <a:lnSpc>
                <a:spcPct val="105000"/>
              </a:lnSpc>
              <a:spcAft>
                <a:spcPts val="1400"/>
              </a:spcAft>
              <a:buFont typeface="Arial"/>
              <a:buChar char="•"/>
            </a:pPr>
            <a:r>
              <a:rPr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Stress score drops steadily as sleep increases (7.0 → 4.1 across sleep bands)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738774"/>
            <a:ext cx="5394960" cy="502920"/>
          </a:xfrm>
          <a:prstGeom prst="rect">
            <a:avLst/>
          </a:prstGeom>
          <a:solidFill>
            <a:srgbClr val="33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55080" y="2851735"/>
            <a:ext cx="502920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Population Mental Health Snapshot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241694"/>
            <a:ext cx="5394960" cy="2893634"/>
          </a:xfrm>
          <a:prstGeom prst="rect">
            <a:avLst/>
          </a:prstGeom>
          <a:solidFill>
            <a:srgbClr val="F4F9F7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sz="20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0" y="3470294"/>
            <a:ext cx="4937760" cy="22588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lnSpc>
                <a:spcPct val="105000"/>
              </a:lnSpc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anxiety score: 7.2 / 10</a:t>
            </a:r>
          </a:p>
          <a:p>
            <a:pPr marL="228600" indent="-228600" algn="l">
              <a:lnSpc>
                <a:spcPct val="105000"/>
              </a:lnSpc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depression level: 8.8 / 10 — highest of all wellness indicators</a:t>
            </a:r>
          </a:p>
          <a:p>
            <a:pPr marL="228600" indent="-228600" algn="l">
              <a:lnSpc>
                <a:spcPct val="105000"/>
              </a:lnSpc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happiness score: 6.4 / 10</a:t>
            </a:r>
          </a:p>
          <a:p>
            <a:pPr marL="228600" indent="-228600" algn="l">
              <a:lnSpc>
                <a:spcPct val="105000"/>
              </a:lnSpc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stress level: 5.08 / 10</a:t>
            </a:r>
          </a:p>
          <a:p>
            <a:pPr marL="228600" indent="-228600" algn="l">
              <a:lnSpc>
                <a:spcPct val="105000"/>
              </a:lnSpc>
              <a:spcAft>
                <a:spcPts val="1400"/>
              </a:spcAft>
              <a:buFont typeface="Arial"/>
              <a:buChar char="•"/>
            </a:pPr>
            <a:r>
              <a:rPr sz="16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 digital dependence score: 36.7 / 100</a:t>
            </a: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6C1403B3-C0C2-980F-2068-CA89FE52C62F}"/>
              </a:ext>
            </a:extLst>
          </p:cNvPr>
          <p:cNvSpPr/>
          <p:nvPr/>
        </p:nvSpPr>
        <p:spPr>
          <a:xfrm>
            <a:off x="320040" y="1051560"/>
            <a:ext cx="11551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4795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 Behavior and Correlations 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EA0863D4-4452-5A7E-E731-AE115AE8CD03}"/>
              </a:ext>
            </a:extLst>
          </p:cNvPr>
          <p:cNvSpPr/>
          <p:nvPr/>
        </p:nvSpPr>
        <p:spPr>
          <a:xfrm>
            <a:off x="338328" y="1645920"/>
            <a:ext cx="822960" cy="54864"/>
          </a:xfrm>
          <a:prstGeom prst="rect">
            <a:avLst/>
          </a:prstGeom>
          <a:solidFill>
            <a:srgbClr val="D7B119"/>
          </a:solidFill>
          <a:ln/>
        </p:spPr>
        <p:txBody>
          <a:bodyPr/>
          <a:lstStyle/>
          <a:p>
            <a:endParaRPr lang="en-GB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4" name="Google Shape;110;p1">
            <a:extLst>
              <a:ext uri="{FF2B5EF4-FFF2-40B4-BE49-F238E27FC236}">
                <a16:creationId xmlns:a16="http://schemas.microsoft.com/office/drawing/2014/main" id="{F5E381C5-FDD3-D8F6-F746-891C86637284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Slide Number Placeholder 2">
            <a:extLst>
              <a:ext uri="{FF2B5EF4-FFF2-40B4-BE49-F238E27FC236}">
                <a16:creationId xmlns:a16="http://schemas.microsoft.com/office/drawing/2014/main" id="{F6DE4CC6-10DA-2FE2-C103-E93F12BA862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 dirty="0"/>
          </a:p>
        </p:txBody>
      </p:sp>
      <p:sp>
        <p:nvSpPr>
          <p:cNvPr id="3" name="Text 49">
            <a:extLst>
              <a:ext uri="{FF2B5EF4-FFF2-40B4-BE49-F238E27FC236}">
                <a16:creationId xmlns:a16="http://schemas.microsoft.com/office/drawing/2014/main" id="{A392B6BC-6DED-E5AE-FB1A-6BA9B9BBD5F7}"/>
              </a:ext>
            </a:extLst>
          </p:cNvPr>
          <p:cNvSpPr/>
          <p:nvPr/>
        </p:nvSpPr>
        <p:spPr>
          <a:xfrm>
            <a:off x="1056298" y="6356350"/>
            <a:ext cx="2296502" cy="365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ar-EG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</a:t>
            </a:r>
            <a:r>
              <a:rPr lang="en-US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/07/2026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49721" y="1883664"/>
            <a:ext cx="2030361" cy="1051560"/>
          </a:xfrm>
          <a:prstGeom prst="rect">
            <a:avLst/>
          </a:prstGeom>
          <a:solidFill>
            <a:srgbClr val="33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6881" y="1956816"/>
            <a:ext cx="1872151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High Risk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6881" y="2203704"/>
            <a:ext cx="1872151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20,066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6881" y="2660904"/>
            <a:ext cx="1872151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20.1% of total population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64980" y="1876580"/>
            <a:ext cx="2030361" cy="1051560"/>
          </a:xfrm>
          <a:prstGeom prst="rect">
            <a:avLst/>
          </a:prstGeom>
          <a:solidFill>
            <a:srgbClr val="D7B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02140" y="1949732"/>
            <a:ext cx="1872151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B2E28"/>
                </a:solidFill>
                <a:latin typeface="Calibri"/>
              </a:rPr>
              <a:t>Avg Device 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2140" y="2196620"/>
            <a:ext cx="1872151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 dirty="0">
                <a:solidFill>
                  <a:srgbClr val="1B2E28"/>
                </a:solidFill>
                <a:latin typeface="Calibri"/>
              </a:rPr>
              <a:t>7.33 hrs/day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2140" y="2653820"/>
            <a:ext cx="1872151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1B2E28"/>
                </a:solidFill>
                <a:latin typeface="Calibri"/>
              </a:rPr>
              <a:t>High-risk group average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0239" y="1876580"/>
            <a:ext cx="2030361" cy="1051560"/>
          </a:xfrm>
          <a:prstGeom prst="rect">
            <a:avLst/>
          </a:prstGeom>
          <a:solidFill>
            <a:srgbClr val="0479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17399" y="1949732"/>
            <a:ext cx="1872151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Calibri"/>
              </a:rPr>
              <a:t>Avg Anxiety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7399" y="2196620"/>
            <a:ext cx="1872151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7.2 /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7399" y="2653820"/>
            <a:ext cx="1872151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High-risk group average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5691" y="3035710"/>
            <a:ext cx="5394960" cy="502920"/>
          </a:xfrm>
          <a:prstGeom prst="rect">
            <a:avLst/>
          </a:prstGeom>
          <a:solidFill>
            <a:srgbClr val="0FAB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8571" y="3156365"/>
            <a:ext cx="502920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 sz="1700" b="1">
                <a:solidFill>
                  <a:srgbClr val="FFFFFF"/>
                </a:solidFill>
                <a:latin typeface="Calibri"/>
              </a:defRPr>
            </a:lvl1pPr>
          </a:lstStyle>
          <a:p>
            <a:r>
              <a:t>Risk Factor Impact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5691" y="3538630"/>
            <a:ext cx="5394960" cy="2651760"/>
          </a:xfrm>
          <a:prstGeom prst="rect">
            <a:avLst/>
          </a:prstGeom>
          <a:solidFill>
            <a:srgbClr val="F4F9F7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sz="18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4291" y="3721510"/>
            <a:ext cx="493776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lnSpc>
                <a:spcPct val="105000"/>
              </a:lnSpc>
              <a:spcAft>
                <a:spcPts val="1200"/>
              </a:spcAft>
              <a:buFont typeface="Arial"/>
              <a:buChar char="•"/>
            </a:pPr>
            <a:r>
              <a:rPr sz="1350" dirty="0">
                <a:solidFill>
                  <a:srgbClr val="2B2B2B"/>
                </a:solidFill>
                <a:latin typeface="Calibri"/>
              </a:rPr>
              <a:t>Device hours is the strongest single predictor of depression (r = 0.80)</a:t>
            </a:r>
          </a:p>
          <a:p>
            <a:pPr marL="228600" indent="-228600" algn="l">
              <a:lnSpc>
                <a:spcPct val="105000"/>
              </a:lnSpc>
              <a:spcAft>
                <a:spcPts val="1200"/>
              </a:spcAft>
              <a:buFont typeface="Arial"/>
              <a:buChar char="•"/>
            </a:pPr>
            <a:r>
              <a:rPr sz="1350" dirty="0">
                <a:solidFill>
                  <a:srgbClr val="2B2B2B"/>
                </a:solidFill>
                <a:latin typeface="Calibri"/>
              </a:rPr>
              <a:t>Sleep duration shows a protective, inverse relationship with depression (r = -0.48)</a:t>
            </a:r>
          </a:p>
          <a:p>
            <a:pPr marL="228600" indent="-228600" algn="l">
              <a:lnSpc>
                <a:spcPct val="105000"/>
              </a:lnSpc>
              <a:spcAft>
                <a:spcPts val="1200"/>
              </a:spcAft>
              <a:buFont typeface="Arial"/>
              <a:buChar char="•"/>
            </a:pPr>
            <a:r>
              <a:rPr sz="1350" dirty="0">
                <a:solidFill>
                  <a:srgbClr val="2B2B2B"/>
                </a:solidFill>
                <a:latin typeface="Calibri"/>
              </a:rPr>
              <a:t>High-risk users average 7.33 device hours/day, slightly above the 7.3-hour population average</a:t>
            </a:r>
          </a:p>
          <a:p>
            <a:pPr marL="228600" indent="-228600" algn="l">
              <a:lnSpc>
                <a:spcPct val="105000"/>
              </a:lnSpc>
              <a:spcAft>
                <a:spcPts val="1200"/>
              </a:spcAft>
              <a:buFont typeface="Arial"/>
              <a:buChar char="•"/>
            </a:pPr>
            <a:r>
              <a:rPr sz="1350" dirty="0">
                <a:solidFill>
                  <a:srgbClr val="2B2B2B"/>
                </a:solidFill>
                <a:latin typeface="Calibri"/>
              </a:rPr>
              <a:t>High-risk users report 156.1 social media minutes/day, in line with the population average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0691" y="3035710"/>
            <a:ext cx="5394960" cy="502920"/>
          </a:xfrm>
          <a:prstGeom prst="rect">
            <a:avLst/>
          </a:prstGeom>
          <a:solidFill>
            <a:srgbClr val="33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3571" y="303571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Actionable Recommendations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0691" y="3538630"/>
            <a:ext cx="5394960" cy="2651760"/>
          </a:xfrm>
          <a:prstGeom prst="rect">
            <a:avLst/>
          </a:prstGeom>
          <a:solidFill>
            <a:srgbClr val="F4F9F7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sz="18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89291" y="3721510"/>
            <a:ext cx="493776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 algn="l">
              <a:lnSpc>
                <a:spcPct val="105000"/>
              </a:lnSpc>
              <a:spcAft>
                <a:spcPts val="1000"/>
              </a:spcAft>
              <a:buFont typeface="Arial"/>
              <a:buChar char="•"/>
            </a:pPr>
            <a:r>
              <a:rPr sz="1350" dirty="0">
                <a:solidFill>
                  <a:srgbClr val="2B2B2B"/>
                </a:solidFill>
                <a:latin typeface="Calibri"/>
              </a:rPr>
              <a:t>Set screen-time and notification limits for heavy device users</a:t>
            </a:r>
          </a:p>
          <a:p>
            <a:pPr marL="228600" indent="-228600" algn="l">
              <a:lnSpc>
                <a:spcPct val="105000"/>
              </a:lnSpc>
              <a:spcAft>
                <a:spcPts val="1000"/>
              </a:spcAft>
              <a:buFont typeface="Arial"/>
              <a:buChar char="•"/>
            </a:pPr>
            <a:r>
              <a:rPr sz="1350" dirty="0">
                <a:solidFill>
                  <a:srgbClr val="2B2B2B"/>
                </a:solidFill>
                <a:latin typeface="Calibri"/>
              </a:rPr>
              <a:t>Promote sleep-hygiene programs given sleep's protective link to depression</a:t>
            </a:r>
          </a:p>
          <a:p>
            <a:pPr marL="228600" indent="-228600" algn="l">
              <a:lnSpc>
                <a:spcPct val="105000"/>
              </a:lnSpc>
              <a:spcAft>
                <a:spcPts val="1000"/>
              </a:spcAft>
              <a:buFont typeface="Arial"/>
              <a:buChar char="•"/>
            </a:pPr>
            <a:r>
              <a:rPr sz="1350" dirty="0">
                <a:solidFill>
                  <a:srgbClr val="2B2B2B"/>
                </a:solidFill>
                <a:latin typeface="Calibri"/>
              </a:rPr>
              <a:t>Prioritize the High Dependence segment for targeted wellness interventions</a:t>
            </a:r>
          </a:p>
          <a:p>
            <a:pPr marL="228600" indent="-228600" algn="l">
              <a:lnSpc>
                <a:spcPct val="105000"/>
              </a:lnSpc>
              <a:spcAft>
                <a:spcPts val="1000"/>
              </a:spcAft>
              <a:buFont typeface="Arial"/>
              <a:buChar char="•"/>
            </a:pPr>
            <a:r>
              <a:rPr sz="1350" dirty="0">
                <a:solidFill>
                  <a:srgbClr val="2B2B2B"/>
                </a:solidFill>
                <a:latin typeface="Calibri"/>
              </a:rPr>
              <a:t>Integrate the ML risk model into early-screening workflows</a:t>
            </a:r>
          </a:p>
          <a:p>
            <a:pPr marL="228600" indent="-228600" algn="l">
              <a:lnSpc>
                <a:spcPct val="105000"/>
              </a:lnSpc>
              <a:spcAft>
                <a:spcPts val="1000"/>
              </a:spcAft>
              <a:buFont typeface="Arial"/>
              <a:buChar char="•"/>
            </a:pPr>
            <a:r>
              <a:rPr sz="1350" dirty="0">
                <a:solidFill>
                  <a:srgbClr val="2B2B2B"/>
                </a:solidFill>
                <a:latin typeface="Calibri"/>
              </a:rPr>
              <a:t>Track focus and stress scores as early-warning indicators alongside anxiety/depression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B72E367-E7E0-F173-C69E-A5E189AB5B4D}"/>
              </a:ext>
            </a:extLst>
          </p:cNvPr>
          <p:cNvSpPr/>
          <p:nvPr/>
        </p:nvSpPr>
        <p:spPr>
          <a:xfrm>
            <a:off x="9625290" y="1878310"/>
            <a:ext cx="2030361" cy="1051560"/>
          </a:xfrm>
          <a:prstGeom prst="rect">
            <a:avLst/>
          </a:prstGeom>
          <a:solidFill>
            <a:srgbClr val="D7B1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693768-E630-B33A-4EF8-098F178254D9}"/>
              </a:ext>
            </a:extLst>
          </p:cNvPr>
          <p:cNvSpPr txBox="1"/>
          <p:nvPr/>
        </p:nvSpPr>
        <p:spPr>
          <a:xfrm>
            <a:off x="9762450" y="1951462"/>
            <a:ext cx="1872151" cy="200055"/>
          </a:xfrm>
          <a:prstGeom prst="rect">
            <a:avLst/>
          </a:prstGeom>
          <a:solidFill>
            <a:srgbClr val="D7B119"/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00" b="1" i="0" dirty="0">
                <a:solidFill>
                  <a:schemeClr val="tx1"/>
                </a:solidFill>
                <a:latin typeface="Calibri"/>
              </a:rPr>
              <a:t>Avg Social Media Minutes</a:t>
            </a:r>
            <a:endParaRPr sz="1300" b="1" i="0" dirty="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E4183F5-CAA1-2C55-B946-A63014FF8106}"/>
              </a:ext>
            </a:extLst>
          </p:cNvPr>
          <p:cNvSpPr txBox="1"/>
          <p:nvPr/>
        </p:nvSpPr>
        <p:spPr>
          <a:xfrm>
            <a:off x="9762450" y="2198350"/>
            <a:ext cx="1872151" cy="400110"/>
          </a:xfrm>
          <a:prstGeom prst="rect">
            <a:avLst/>
          </a:prstGeom>
          <a:solidFill>
            <a:srgbClr val="D7B119"/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600" b="1" i="0" dirty="0">
                <a:solidFill>
                  <a:schemeClr val="tx1"/>
                </a:solidFill>
                <a:latin typeface="Calibri"/>
              </a:rPr>
              <a:t>156.1 mins</a:t>
            </a:r>
            <a:endParaRPr sz="2600" b="1" i="0" dirty="0">
              <a:solidFill>
                <a:schemeClr val="tx1"/>
              </a:solidFill>
              <a:latin typeface="Calibri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1EA9AFD-5BD2-0765-6240-825B43B7A993}"/>
              </a:ext>
            </a:extLst>
          </p:cNvPr>
          <p:cNvSpPr txBox="1"/>
          <p:nvPr/>
        </p:nvSpPr>
        <p:spPr>
          <a:xfrm>
            <a:off x="9762450" y="2655550"/>
            <a:ext cx="1872151" cy="161583"/>
          </a:xfrm>
          <a:prstGeom prst="rect">
            <a:avLst/>
          </a:prstGeom>
          <a:solidFill>
            <a:srgbClr val="D7B119"/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chemeClr val="tx1"/>
                </a:solidFill>
                <a:latin typeface="Calibri"/>
              </a:rPr>
              <a:t>High-risk group average</a:t>
            </a:r>
          </a:p>
        </p:txBody>
      </p:sp>
      <p:sp>
        <p:nvSpPr>
          <p:cNvPr id="46" name="Text 6">
            <a:extLst>
              <a:ext uri="{FF2B5EF4-FFF2-40B4-BE49-F238E27FC236}">
                <a16:creationId xmlns:a16="http://schemas.microsoft.com/office/drawing/2014/main" id="{B4029763-4D8E-6D4D-82A8-803B0AE71E89}"/>
              </a:ext>
            </a:extLst>
          </p:cNvPr>
          <p:cNvSpPr/>
          <p:nvPr/>
        </p:nvSpPr>
        <p:spPr>
          <a:xfrm>
            <a:off x="320040" y="1051560"/>
            <a:ext cx="11551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4795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Insights: High Risk and Recommendations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Shape 7">
            <a:extLst>
              <a:ext uri="{FF2B5EF4-FFF2-40B4-BE49-F238E27FC236}">
                <a16:creationId xmlns:a16="http://schemas.microsoft.com/office/drawing/2014/main" id="{46A51169-197C-ACBB-83A2-DCF44C643C5C}"/>
              </a:ext>
            </a:extLst>
          </p:cNvPr>
          <p:cNvSpPr/>
          <p:nvPr/>
        </p:nvSpPr>
        <p:spPr>
          <a:xfrm>
            <a:off x="338328" y="1645920"/>
            <a:ext cx="822960" cy="54864"/>
          </a:xfrm>
          <a:prstGeom prst="rect">
            <a:avLst/>
          </a:prstGeom>
          <a:solidFill>
            <a:srgbClr val="D7B119"/>
          </a:solidFill>
          <a:ln/>
        </p:spPr>
        <p:txBody>
          <a:bodyPr/>
          <a:lstStyle/>
          <a:p>
            <a:endParaRPr lang="en-GB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0" name="Google Shape;110;p1">
            <a:extLst>
              <a:ext uri="{FF2B5EF4-FFF2-40B4-BE49-F238E27FC236}">
                <a16:creationId xmlns:a16="http://schemas.microsoft.com/office/drawing/2014/main" id="{99FB3E9C-9679-95A7-C0C7-26CB0DDD18FD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Slide Number Placeholder 2">
            <a:extLst>
              <a:ext uri="{FF2B5EF4-FFF2-40B4-BE49-F238E27FC236}">
                <a16:creationId xmlns:a16="http://schemas.microsoft.com/office/drawing/2014/main" id="{7A84B087-A882-9CE3-74EE-CF8DDE2CCBB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 dirty="0"/>
          </a:p>
        </p:txBody>
      </p:sp>
      <p:sp>
        <p:nvSpPr>
          <p:cNvPr id="3" name="Text 49">
            <a:extLst>
              <a:ext uri="{FF2B5EF4-FFF2-40B4-BE49-F238E27FC236}">
                <a16:creationId xmlns:a16="http://schemas.microsoft.com/office/drawing/2014/main" id="{6D7E93C4-B4E5-F5E4-5840-9F7DA087285C}"/>
              </a:ext>
            </a:extLst>
          </p:cNvPr>
          <p:cNvSpPr/>
          <p:nvPr/>
        </p:nvSpPr>
        <p:spPr>
          <a:xfrm>
            <a:off x="1056298" y="6356350"/>
            <a:ext cx="2296502" cy="365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ar-EG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</a:t>
            </a:r>
            <a:r>
              <a:rPr lang="en-US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/07/2026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16E997-0565-5CE7-AB25-DB46DEDA3D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5" name="CardBg120">
            <a:extLst>
              <a:ext uri="{FF2B5EF4-FFF2-40B4-BE49-F238E27FC236}">
                <a16:creationId xmlns:a16="http://schemas.microsoft.com/office/drawing/2014/main" id="{EB9F7C68-A211-C04D-CA19-AA48809D1B89}"/>
              </a:ext>
            </a:extLst>
          </p:cNvPr>
          <p:cNvSpPr/>
          <p:nvPr/>
        </p:nvSpPr>
        <p:spPr>
          <a:xfrm>
            <a:off x="643130" y="2402878"/>
            <a:ext cx="4488419" cy="3500208"/>
          </a:xfrm>
          <a:prstGeom prst="rect">
            <a:avLst/>
          </a:prstGeom>
          <a:solidFill>
            <a:srgbClr val="FDF6E3"/>
          </a:solidFill>
          <a:ln w="9525">
            <a:solidFill>
              <a:srgbClr val="336EA8"/>
            </a:solidFill>
          </a:ln>
        </p:spPr>
        <p:txBody>
          <a:bodyPr/>
          <a:lstStyle/>
          <a:p>
            <a:endParaRPr lang="en-US" sz="3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rdHdr120">
            <a:extLst>
              <a:ext uri="{FF2B5EF4-FFF2-40B4-BE49-F238E27FC236}">
                <a16:creationId xmlns:a16="http://schemas.microsoft.com/office/drawing/2014/main" id="{4528E6EF-59CA-1C29-C55B-089F4B920680}"/>
              </a:ext>
            </a:extLst>
          </p:cNvPr>
          <p:cNvSpPr/>
          <p:nvPr/>
        </p:nvSpPr>
        <p:spPr>
          <a:xfrm>
            <a:off x="643130" y="2411872"/>
            <a:ext cx="4488419" cy="80000"/>
          </a:xfrm>
          <a:prstGeom prst="rect">
            <a:avLst/>
          </a:prstGeom>
          <a:solidFill>
            <a:srgbClr val="336EA8"/>
          </a:solidFill>
          <a:ln/>
        </p:spPr>
        <p:txBody>
          <a:bodyPr/>
          <a:lstStyle/>
          <a:p>
            <a:endParaRPr lang="en-US" sz="3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MLBadge">
            <a:extLst>
              <a:ext uri="{FF2B5EF4-FFF2-40B4-BE49-F238E27FC236}">
                <a16:creationId xmlns:a16="http://schemas.microsoft.com/office/drawing/2014/main" id="{A5F62944-643C-790A-9FF0-E6A28D43B4F3}"/>
              </a:ext>
            </a:extLst>
          </p:cNvPr>
          <p:cNvSpPr/>
          <p:nvPr/>
        </p:nvSpPr>
        <p:spPr>
          <a:xfrm>
            <a:off x="320040" y="1822360"/>
            <a:ext cx="4900000" cy="28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4795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✓  Best Model: Logistic Regression</a:t>
            </a:r>
          </a:p>
        </p:txBody>
      </p:sp>
      <p:sp>
        <p:nvSpPr>
          <p:cNvPr id="13" name="MLColHdr">
            <a:extLst>
              <a:ext uri="{FF2B5EF4-FFF2-40B4-BE49-F238E27FC236}">
                <a16:creationId xmlns:a16="http://schemas.microsoft.com/office/drawing/2014/main" id="{BCBBCDA9-C91E-13BC-917B-D53250A2750E}"/>
              </a:ext>
            </a:extLst>
          </p:cNvPr>
          <p:cNvSpPr/>
          <p:nvPr/>
        </p:nvSpPr>
        <p:spPr>
          <a:xfrm>
            <a:off x="722804" y="2578615"/>
            <a:ext cx="4362039" cy="41602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4795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Pipeline &amp; Process</a:t>
            </a:r>
          </a:p>
        </p:txBody>
      </p:sp>
      <p:sp>
        <p:nvSpPr>
          <p:cNvPr id="15" name="MLColLine">
            <a:extLst>
              <a:ext uri="{FF2B5EF4-FFF2-40B4-BE49-F238E27FC236}">
                <a16:creationId xmlns:a16="http://schemas.microsoft.com/office/drawing/2014/main" id="{EBA482B5-ACD7-0D71-09F1-FEA878B8F176}"/>
              </a:ext>
            </a:extLst>
          </p:cNvPr>
          <p:cNvSpPr/>
          <p:nvPr/>
        </p:nvSpPr>
        <p:spPr>
          <a:xfrm>
            <a:off x="722804" y="3058343"/>
            <a:ext cx="4362039" cy="27000"/>
          </a:xfrm>
          <a:prstGeom prst="rect">
            <a:avLst/>
          </a:prstGeom>
          <a:solidFill>
            <a:srgbClr val="047954"/>
          </a:solidFill>
          <a:ln/>
        </p:spPr>
        <p:txBody>
          <a:bodyPr/>
          <a:lstStyle/>
          <a:p>
            <a:endParaRPr lang="en-US" sz="3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MLItem">
            <a:extLst>
              <a:ext uri="{FF2B5EF4-FFF2-40B4-BE49-F238E27FC236}">
                <a16:creationId xmlns:a16="http://schemas.microsoft.com/office/drawing/2014/main" id="{F2D31B1F-E9F7-6244-2743-1D67289F5226}"/>
              </a:ext>
            </a:extLst>
          </p:cNvPr>
          <p:cNvSpPr/>
          <p:nvPr/>
        </p:nvSpPr>
        <p:spPr>
          <a:xfrm>
            <a:off x="723090" y="3204370"/>
            <a:ext cx="4362039" cy="27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 Developed an end-to-end ML pipeline to predict Mental Health Risk</a:t>
            </a:r>
          </a:p>
        </p:txBody>
      </p:sp>
      <p:sp>
        <p:nvSpPr>
          <p:cNvPr id="19" name="MLItem">
            <a:extLst>
              <a:ext uri="{FF2B5EF4-FFF2-40B4-BE49-F238E27FC236}">
                <a16:creationId xmlns:a16="http://schemas.microsoft.com/office/drawing/2014/main" id="{CB75E4D0-ED30-2E6E-0ADE-9FBA127E4982}"/>
              </a:ext>
            </a:extLst>
          </p:cNvPr>
          <p:cNvSpPr/>
          <p:nvPr/>
        </p:nvSpPr>
        <p:spPr>
          <a:xfrm>
            <a:off x="722804" y="3874458"/>
            <a:ext cx="4362039" cy="27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 Performed data preprocessing and feature selection on the Gold-layer dataset</a:t>
            </a:r>
          </a:p>
        </p:txBody>
      </p:sp>
      <p:sp>
        <p:nvSpPr>
          <p:cNvPr id="21" name="MLItem">
            <a:extLst>
              <a:ext uri="{FF2B5EF4-FFF2-40B4-BE49-F238E27FC236}">
                <a16:creationId xmlns:a16="http://schemas.microsoft.com/office/drawing/2014/main" id="{DEF2DB24-01BA-B5DA-296B-A0E336FD678A}"/>
              </a:ext>
            </a:extLst>
          </p:cNvPr>
          <p:cNvSpPr/>
          <p:nvPr/>
        </p:nvSpPr>
        <p:spPr>
          <a:xfrm>
            <a:off x="722804" y="4544546"/>
            <a:ext cx="4362039" cy="27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 Trained and compared: Logistic Regression, Random Forest, and XGBoost</a:t>
            </a:r>
          </a:p>
        </p:txBody>
      </p:sp>
      <p:sp>
        <p:nvSpPr>
          <p:cNvPr id="23" name="MLItem">
            <a:extLst>
              <a:ext uri="{FF2B5EF4-FFF2-40B4-BE49-F238E27FC236}">
                <a16:creationId xmlns:a16="http://schemas.microsoft.com/office/drawing/2014/main" id="{DC3BE1BF-EE5C-443B-65BF-F098B3A62350}"/>
              </a:ext>
            </a:extLst>
          </p:cNvPr>
          <p:cNvSpPr/>
          <p:nvPr/>
        </p:nvSpPr>
        <p:spPr>
          <a:xfrm>
            <a:off x="722804" y="5232290"/>
            <a:ext cx="4362039" cy="27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 Selected Logistic Regression as the best-performing model</a:t>
            </a:r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7795AA48-AFAC-10AD-F406-202C1D8DF965}"/>
              </a:ext>
            </a:extLst>
          </p:cNvPr>
          <p:cNvSpPr/>
          <p:nvPr/>
        </p:nvSpPr>
        <p:spPr>
          <a:xfrm>
            <a:off x="320040" y="1051560"/>
            <a:ext cx="11551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</a:t>
            </a:r>
            <a:endParaRPr lang="en-US" sz="3000" dirty="0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87BBC8C9-9CCC-C621-5DB5-DA9673A20DD8}"/>
              </a:ext>
            </a:extLst>
          </p:cNvPr>
          <p:cNvSpPr/>
          <p:nvPr/>
        </p:nvSpPr>
        <p:spPr>
          <a:xfrm>
            <a:off x="338328" y="1645920"/>
            <a:ext cx="822960" cy="54864"/>
          </a:xfrm>
          <a:prstGeom prst="rect">
            <a:avLst/>
          </a:prstGeom>
          <a:solidFill>
            <a:srgbClr val="D7B11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7" name="CardBg120">
            <a:extLst>
              <a:ext uri="{FF2B5EF4-FFF2-40B4-BE49-F238E27FC236}">
                <a16:creationId xmlns:a16="http://schemas.microsoft.com/office/drawing/2014/main" id="{4A08193B-D1F4-62CD-E10C-FE4E7695B586}"/>
              </a:ext>
            </a:extLst>
          </p:cNvPr>
          <p:cNvSpPr/>
          <p:nvPr/>
        </p:nvSpPr>
        <p:spPr>
          <a:xfrm>
            <a:off x="5259672" y="2411872"/>
            <a:ext cx="4488419" cy="3500208"/>
          </a:xfrm>
          <a:prstGeom prst="rect">
            <a:avLst/>
          </a:prstGeom>
          <a:solidFill>
            <a:srgbClr val="FDF6E3"/>
          </a:solidFill>
          <a:ln w="9525">
            <a:solidFill>
              <a:srgbClr val="336EA8"/>
            </a:solidFill>
          </a:ln>
        </p:spPr>
        <p:txBody>
          <a:bodyPr/>
          <a:lstStyle/>
          <a:p>
            <a:endParaRPr lang="en-US" sz="3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CardHdr120">
            <a:extLst>
              <a:ext uri="{FF2B5EF4-FFF2-40B4-BE49-F238E27FC236}">
                <a16:creationId xmlns:a16="http://schemas.microsoft.com/office/drawing/2014/main" id="{8784AE1E-D561-F3D9-580D-8677B822885B}"/>
              </a:ext>
            </a:extLst>
          </p:cNvPr>
          <p:cNvSpPr/>
          <p:nvPr/>
        </p:nvSpPr>
        <p:spPr>
          <a:xfrm>
            <a:off x="5259672" y="2420866"/>
            <a:ext cx="4488419" cy="80000"/>
          </a:xfrm>
          <a:prstGeom prst="rect">
            <a:avLst/>
          </a:prstGeom>
          <a:solidFill>
            <a:srgbClr val="336EA8"/>
          </a:solidFill>
          <a:ln/>
        </p:spPr>
        <p:txBody>
          <a:bodyPr/>
          <a:lstStyle/>
          <a:p>
            <a:endParaRPr lang="en-US" sz="36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MLColHdr">
            <a:extLst>
              <a:ext uri="{FF2B5EF4-FFF2-40B4-BE49-F238E27FC236}">
                <a16:creationId xmlns:a16="http://schemas.microsoft.com/office/drawing/2014/main" id="{DCB33FBF-1F96-4887-46E9-62E1B700948E}"/>
              </a:ext>
            </a:extLst>
          </p:cNvPr>
          <p:cNvSpPr/>
          <p:nvPr/>
        </p:nvSpPr>
        <p:spPr>
          <a:xfrm>
            <a:off x="5320853" y="2549846"/>
            <a:ext cx="4344895" cy="46769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AB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Deployment &amp; Results</a:t>
            </a:r>
          </a:p>
        </p:txBody>
      </p:sp>
      <p:sp>
        <p:nvSpPr>
          <p:cNvPr id="75" name="MLColLine">
            <a:extLst>
              <a:ext uri="{FF2B5EF4-FFF2-40B4-BE49-F238E27FC236}">
                <a16:creationId xmlns:a16="http://schemas.microsoft.com/office/drawing/2014/main" id="{61A87B1F-2465-69A6-766C-609E32BBBC57}"/>
              </a:ext>
            </a:extLst>
          </p:cNvPr>
          <p:cNvSpPr/>
          <p:nvPr/>
        </p:nvSpPr>
        <p:spPr>
          <a:xfrm>
            <a:off x="5327432" y="3046306"/>
            <a:ext cx="4344895" cy="27000"/>
          </a:xfrm>
          <a:prstGeom prst="rect">
            <a:avLst/>
          </a:prstGeom>
          <a:solidFill>
            <a:srgbClr val="0FAB7D"/>
          </a:solidFill>
          <a:ln/>
        </p:spPr>
        <p:txBody>
          <a:bodyPr/>
          <a:lstStyle/>
          <a:p>
            <a:endParaRPr lang="en-US" sz="3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7" name="MLItem">
            <a:extLst>
              <a:ext uri="{FF2B5EF4-FFF2-40B4-BE49-F238E27FC236}">
                <a16:creationId xmlns:a16="http://schemas.microsoft.com/office/drawing/2014/main" id="{41BB8977-F0B0-21B8-52A3-1001FF3E7873}"/>
              </a:ext>
            </a:extLst>
          </p:cNvPr>
          <p:cNvSpPr/>
          <p:nvPr/>
        </p:nvSpPr>
        <p:spPr>
          <a:xfrm>
            <a:off x="5427432" y="3207874"/>
            <a:ext cx="4344895" cy="27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 Deployed using Streamlit for real-time interactive prediction</a:t>
            </a:r>
          </a:p>
        </p:txBody>
      </p:sp>
      <p:sp>
        <p:nvSpPr>
          <p:cNvPr id="79" name="MLItem">
            <a:extLst>
              <a:ext uri="{FF2B5EF4-FFF2-40B4-BE49-F238E27FC236}">
                <a16:creationId xmlns:a16="http://schemas.microsoft.com/office/drawing/2014/main" id="{8DA84C45-6F62-DF16-8725-7715D72B9704}"/>
              </a:ext>
            </a:extLst>
          </p:cNvPr>
          <p:cNvSpPr/>
          <p:nvPr/>
        </p:nvSpPr>
        <p:spPr>
          <a:xfrm>
            <a:off x="5427431" y="3871504"/>
            <a:ext cx="4344895" cy="27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 Users input digital habits and receive an instant mental health risk score</a:t>
            </a:r>
          </a:p>
        </p:txBody>
      </p:sp>
      <p:sp>
        <p:nvSpPr>
          <p:cNvPr id="81" name="MLItem">
            <a:extLst>
              <a:ext uri="{FF2B5EF4-FFF2-40B4-BE49-F238E27FC236}">
                <a16:creationId xmlns:a16="http://schemas.microsoft.com/office/drawing/2014/main" id="{AE4346EF-B89E-AB4A-AAF7-149BFC7D87D7}"/>
              </a:ext>
            </a:extLst>
          </p:cNvPr>
          <p:cNvSpPr/>
          <p:nvPr/>
        </p:nvSpPr>
        <p:spPr>
          <a:xfrm>
            <a:off x="5427430" y="4544546"/>
            <a:ext cx="4344895" cy="27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 Model performance verified on held-out test split</a:t>
            </a:r>
          </a:p>
        </p:txBody>
      </p:sp>
      <p:sp>
        <p:nvSpPr>
          <p:cNvPr id="83" name="MLItem">
            <a:extLst>
              <a:ext uri="{FF2B5EF4-FFF2-40B4-BE49-F238E27FC236}">
                <a16:creationId xmlns:a16="http://schemas.microsoft.com/office/drawing/2014/main" id="{CE9B20BA-41B2-0EAA-01BC-8B4583C50029}"/>
              </a:ext>
            </a:extLst>
          </p:cNvPr>
          <p:cNvSpPr/>
          <p:nvPr/>
        </p:nvSpPr>
        <p:spPr>
          <a:xfrm>
            <a:off x="5427430" y="5059171"/>
            <a:ext cx="4344895" cy="27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 Integrated as an additional deliverable alongside the Power BI dashboard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4C645C-6E5C-D2FC-07A4-342D1730C5A0}"/>
              </a:ext>
            </a:extLst>
          </p:cNvPr>
          <p:cNvSpPr txBox="1"/>
          <p:nvPr/>
        </p:nvSpPr>
        <p:spPr>
          <a:xfrm>
            <a:off x="9900451" y="2264067"/>
            <a:ext cx="1851662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336EA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Performance</a:t>
            </a:r>
            <a:endParaRPr lang="ar-EG" sz="2400" b="1" dirty="0">
              <a:solidFill>
                <a:srgbClr val="336EA8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/>
          </a:p>
          <a:p>
            <a:pPr algn="l"/>
            <a:r>
              <a:rPr lang="en-GB" sz="16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Logistic Regression</a:t>
            </a:r>
            <a:r>
              <a:rPr lang="ar-EG" sz="16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GB" sz="1600" dirty="0">
              <a:solidFill>
                <a:srgbClr val="2B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6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Accuracy: 66.59%</a:t>
            </a:r>
          </a:p>
          <a:p>
            <a:r>
              <a:rPr lang="en-GB" sz="16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F1 Score: 44.13%</a:t>
            </a:r>
            <a:endParaRPr lang="ar-EG" sz="1600" dirty="0">
              <a:solidFill>
                <a:srgbClr val="2B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ar-EG" sz="1600" dirty="0">
              <a:solidFill>
                <a:srgbClr val="2B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6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Forest</a:t>
            </a:r>
            <a:r>
              <a:rPr lang="ar-EG" sz="16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GB" sz="1600" dirty="0">
              <a:solidFill>
                <a:srgbClr val="2B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6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Accuracy: 79.15%</a:t>
            </a:r>
          </a:p>
          <a:p>
            <a:r>
              <a:rPr lang="en-GB" sz="16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F1 Score: 13.64%</a:t>
            </a:r>
            <a:endParaRPr lang="ar-EG" sz="1600" dirty="0">
              <a:solidFill>
                <a:srgbClr val="2B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600" dirty="0">
              <a:solidFill>
                <a:srgbClr val="2B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600" dirty="0" err="1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XGBoost</a:t>
            </a:r>
            <a:r>
              <a:rPr lang="ar-EG" sz="16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GB" sz="1600" dirty="0">
              <a:solidFill>
                <a:srgbClr val="2B2B2B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6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Accuracy: 67.82%</a:t>
            </a:r>
          </a:p>
          <a:p>
            <a:r>
              <a:rPr lang="en-GB" sz="1600" dirty="0">
                <a:solidFill>
                  <a:srgbClr val="2B2B2B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F1 Score: 43.19%</a:t>
            </a:r>
          </a:p>
        </p:txBody>
      </p:sp>
      <p:sp>
        <p:nvSpPr>
          <p:cNvPr id="6" name="Text 49">
            <a:extLst>
              <a:ext uri="{FF2B5EF4-FFF2-40B4-BE49-F238E27FC236}">
                <a16:creationId xmlns:a16="http://schemas.microsoft.com/office/drawing/2014/main" id="{2749E7AB-F92C-CF3B-0A7A-2912DD5B324F}"/>
              </a:ext>
            </a:extLst>
          </p:cNvPr>
          <p:cNvSpPr/>
          <p:nvPr/>
        </p:nvSpPr>
        <p:spPr>
          <a:xfrm>
            <a:off x="1056298" y="6356350"/>
            <a:ext cx="2296502" cy="365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ar-EG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</a:t>
            </a:r>
            <a:r>
              <a:rPr lang="en-US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/07/2026</a:t>
            </a:r>
          </a:p>
        </p:txBody>
      </p:sp>
    </p:spTree>
    <p:extLst>
      <p:ext uri="{BB962C8B-B14F-4D97-AF65-F5344CB8AC3E}">
        <p14:creationId xmlns:p14="http://schemas.microsoft.com/office/powerpoint/2010/main" val="2486957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747D6-DA2A-728F-4255-CF140DF9B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>
            <a:extLst>
              <a:ext uri="{FF2B5EF4-FFF2-40B4-BE49-F238E27FC236}">
                <a16:creationId xmlns:a16="http://schemas.microsoft.com/office/drawing/2014/main" id="{0BDEC3DF-CDFB-4D4C-AAB3-3B4E75066B00}"/>
              </a:ext>
            </a:extLst>
          </p:cNvPr>
          <p:cNvSpPr/>
          <p:nvPr/>
        </p:nvSpPr>
        <p:spPr>
          <a:xfrm>
            <a:off x="320040" y="1051560"/>
            <a:ext cx="11551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3000" dirty="0"/>
          </a:p>
        </p:txBody>
      </p:sp>
      <p:sp>
        <p:nvSpPr>
          <p:cNvPr id="4" name="Shape 7">
            <a:extLst>
              <a:ext uri="{FF2B5EF4-FFF2-40B4-BE49-F238E27FC236}">
                <a16:creationId xmlns:a16="http://schemas.microsoft.com/office/drawing/2014/main" id="{F632267C-A695-078F-6302-CF244AA3EABD}"/>
              </a:ext>
            </a:extLst>
          </p:cNvPr>
          <p:cNvSpPr/>
          <p:nvPr/>
        </p:nvSpPr>
        <p:spPr>
          <a:xfrm>
            <a:off x="338328" y="1645920"/>
            <a:ext cx="822960" cy="54864"/>
          </a:xfrm>
          <a:prstGeom prst="rect">
            <a:avLst/>
          </a:prstGeom>
          <a:solidFill>
            <a:srgbClr val="D7B11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CardBg20">
            <a:extLst>
              <a:ext uri="{FF2B5EF4-FFF2-40B4-BE49-F238E27FC236}">
                <a16:creationId xmlns:a16="http://schemas.microsoft.com/office/drawing/2014/main" id="{4DCC06CE-A6A3-A7F5-4008-5843FFC0394A}"/>
              </a:ext>
            </a:extLst>
          </p:cNvPr>
          <p:cNvSpPr/>
          <p:nvPr/>
        </p:nvSpPr>
        <p:spPr>
          <a:xfrm>
            <a:off x="817484" y="2083116"/>
            <a:ext cx="3122555" cy="1623645"/>
          </a:xfrm>
          <a:prstGeom prst="rect">
            <a:avLst/>
          </a:prstGeom>
          <a:solidFill>
            <a:srgbClr val="F4F9F7"/>
          </a:solidFill>
          <a:ln w="9525">
            <a:solidFill>
              <a:srgbClr val="0FAB7D"/>
            </a:solidFill>
          </a:ln>
        </p:spPr>
        <p:txBody>
          <a:bodyPr/>
          <a:lstStyle/>
          <a:p>
            <a:endParaRPr lang="en-US" sz="4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CardHdr20">
            <a:extLst>
              <a:ext uri="{FF2B5EF4-FFF2-40B4-BE49-F238E27FC236}">
                <a16:creationId xmlns:a16="http://schemas.microsoft.com/office/drawing/2014/main" id="{9B011F15-E2D7-91B9-4A3A-66EC2A4938A0}"/>
              </a:ext>
            </a:extLst>
          </p:cNvPr>
          <p:cNvSpPr/>
          <p:nvPr/>
        </p:nvSpPr>
        <p:spPr>
          <a:xfrm>
            <a:off x="817484" y="2083117"/>
            <a:ext cx="3122555" cy="319196"/>
          </a:xfrm>
          <a:prstGeom prst="rect">
            <a:avLst/>
          </a:prstGeom>
          <a:solidFill>
            <a:srgbClr val="0FAB7D"/>
          </a:solidFill>
          <a:ln/>
        </p:spPr>
        <p:txBody>
          <a:bodyPr/>
          <a:lstStyle/>
          <a:p>
            <a:endParaRPr lang="en-US" sz="3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dNum0">
            <a:extLst>
              <a:ext uri="{FF2B5EF4-FFF2-40B4-BE49-F238E27FC236}">
                <a16:creationId xmlns:a16="http://schemas.microsoft.com/office/drawing/2014/main" id="{20CC71D0-2AA4-3295-5B53-D5EFA5134058}"/>
              </a:ext>
            </a:extLst>
          </p:cNvPr>
          <p:cNvSpPr/>
          <p:nvPr/>
        </p:nvSpPr>
        <p:spPr>
          <a:xfrm>
            <a:off x="817484" y="2083117"/>
            <a:ext cx="3122555" cy="31919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</a:p>
        </p:txBody>
      </p:sp>
      <p:sp>
        <p:nvSpPr>
          <p:cNvPr id="32" name="dTitle0">
            <a:extLst>
              <a:ext uri="{FF2B5EF4-FFF2-40B4-BE49-F238E27FC236}">
                <a16:creationId xmlns:a16="http://schemas.microsoft.com/office/drawing/2014/main" id="{E357CD1E-E069-FEE8-7D79-A29B97A62D10}"/>
              </a:ext>
            </a:extLst>
          </p:cNvPr>
          <p:cNvSpPr/>
          <p:nvPr/>
        </p:nvSpPr>
        <p:spPr>
          <a:xfrm>
            <a:off x="857484" y="2363116"/>
            <a:ext cx="2938875" cy="38303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AB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Clean Dataset</a:t>
            </a:r>
          </a:p>
        </p:txBody>
      </p:sp>
      <p:sp>
        <p:nvSpPr>
          <p:cNvPr id="33" name="dDesc0">
            <a:extLst>
              <a:ext uri="{FF2B5EF4-FFF2-40B4-BE49-F238E27FC236}">
                <a16:creationId xmlns:a16="http://schemas.microsoft.com/office/drawing/2014/main" id="{C40B88BF-7788-387D-7B37-76C895D4AE11}"/>
              </a:ext>
            </a:extLst>
          </p:cNvPr>
          <p:cNvSpPr/>
          <p:nvPr/>
        </p:nvSpPr>
        <p:spPr>
          <a:xfrm>
            <a:off x="857483" y="2742953"/>
            <a:ext cx="2938875" cy="58732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Silver-layer CSV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100,000 rows × 31 cols</a:t>
            </a:r>
          </a:p>
        </p:txBody>
      </p:sp>
      <p:sp>
        <p:nvSpPr>
          <p:cNvPr id="34" name="CardBg25">
            <a:extLst>
              <a:ext uri="{FF2B5EF4-FFF2-40B4-BE49-F238E27FC236}">
                <a16:creationId xmlns:a16="http://schemas.microsoft.com/office/drawing/2014/main" id="{BE2FAE39-00DE-076E-9A0B-BE5393A43B94}"/>
              </a:ext>
            </a:extLst>
          </p:cNvPr>
          <p:cNvSpPr/>
          <p:nvPr/>
        </p:nvSpPr>
        <p:spPr>
          <a:xfrm>
            <a:off x="4288916" y="2079918"/>
            <a:ext cx="3122554" cy="1623645"/>
          </a:xfrm>
          <a:prstGeom prst="rect">
            <a:avLst/>
          </a:prstGeom>
          <a:solidFill>
            <a:srgbClr val="F4F9F7"/>
          </a:solidFill>
          <a:ln w="9525">
            <a:solidFill>
              <a:srgbClr val="336EA8"/>
            </a:solidFill>
          </a:ln>
        </p:spPr>
        <p:txBody>
          <a:bodyPr/>
          <a:lstStyle/>
          <a:p>
            <a:endParaRPr lang="en-US" sz="4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CardHdr25">
            <a:extLst>
              <a:ext uri="{FF2B5EF4-FFF2-40B4-BE49-F238E27FC236}">
                <a16:creationId xmlns:a16="http://schemas.microsoft.com/office/drawing/2014/main" id="{72C5954D-519D-C3D8-B14E-2612813FEDB6}"/>
              </a:ext>
            </a:extLst>
          </p:cNvPr>
          <p:cNvSpPr/>
          <p:nvPr/>
        </p:nvSpPr>
        <p:spPr>
          <a:xfrm>
            <a:off x="4288916" y="2079919"/>
            <a:ext cx="3122554" cy="319196"/>
          </a:xfrm>
          <a:prstGeom prst="rect">
            <a:avLst/>
          </a:prstGeom>
          <a:solidFill>
            <a:srgbClr val="336EA8"/>
          </a:solidFill>
          <a:ln/>
        </p:spPr>
        <p:txBody>
          <a:bodyPr/>
          <a:lstStyle/>
          <a:p>
            <a:endParaRPr lang="en-US" sz="24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dNum1">
            <a:extLst>
              <a:ext uri="{FF2B5EF4-FFF2-40B4-BE49-F238E27FC236}">
                <a16:creationId xmlns:a16="http://schemas.microsoft.com/office/drawing/2014/main" id="{25EE076F-A32B-614C-8FC1-A96859E107B1}"/>
              </a:ext>
            </a:extLst>
          </p:cNvPr>
          <p:cNvSpPr/>
          <p:nvPr/>
        </p:nvSpPr>
        <p:spPr>
          <a:xfrm>
            <a:off x="4288916" y="2079919"/>
            <a:ext cx="3122554" cy="31919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02</a:t>
            </a:r>
          </a:p>
        </p:txBody>
      </p:sp>
      <p:sp>
        <p:nvSpPr>
          <p:cNvPr id="37" name="dTitle1">
            <a:extLst>
              <a:ext uri="{FF2B5EF4-FFF2-40B4-BE49-F238E27FC236}">
                <a16:creationId xmlns:a16="http://schemas.microsoft.com/office/drawing/2014/main" id="{EF11EF3B-E8AC-F942-66D3-F87B9B95926D}"/>
              </a:ext>
            </a:extLst>
          </p:cNvPr>
          <p:cNvSpPr/>
          <p:nvPr/>
        </p:nvSpPr>
        <p:spPr>
          <a:xfrm>
            <a:off x="4328916" y="2359918"/>
            <a:ext cx="2938874" cy="38303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6EA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Notebooks</a:t>
            </a:r>
          </a:p>
        </p:txBody>
      </p:sp>
      <p:sp>
        <p:nvSpPr>
          <p:cNvPr id="38" name="dDesc1">
            <a:extLst>
              <a:ext uri="{FF2B5EF4-FFF2-40B4-BE49-F238E27FC236}">
                <a16:creationId xmlns:a16="http://schemas.microsoft.com/office/drawing/2014/main" id="{8FA6166F-A226-8D3E-E29E-1E472D012CB4}"/>
              </a:ext>
            </a:extLst>
          </p:cNvPr>
          <p:cNvSpPr/>
          <p:nvPr/>
        </p:nvSpPr>
        <p:spPr>
          <a:xfrm>
            <a:off x="4328915" y="2742953"/>
            <a:ext cx="2938874" cy="58732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Bronze · Silver · Gold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Colab pipeline</a:t>
            </a:r>
          </a:p>
        </p:txBody>
      </p:sp>
      <p:sp>
        <p:nvSpPr>
          <p:cNvPr id="39" name="CardBg35">
            <a:extLst>
              <a:ext uri="{FF2B5EF4-FFF2-40B4-BE49-F238E27FC236}">
                <a16:creationId xmlns:a16="http://schemas.microsoft.com/office/drawing/2014/main" id="{FFE3BEE9-8508-0927-2E08-E1C23C7899D7}"/>
              </a:ext>
            </a:extLst>
          </p:cNvPr>
          <p:cNvSpPr/>
          <p:nvPr/>
        </p:nvSpPr>
        <p:spPr>
          <a:xfrm>
            <a:off x="7823044" y="2079918"/>
            <a:ext cx="3122554" cy="1623645"/>
          </a:xfrm>
          <a:prstGeom prst="rect">
            <a:avLst/>
          </a:prstGeom>
          <a:solidFill>
            <a:srgbClr val="F4F9F7"/>
          </a:solidFill>
          <a:ln w="9525">
            <a:solidFill>
              <a:srgbClr val="047954"/>
            </a:solidFill>
          </a:ln>
        </p:spPr>
        <p:txBody>
          <a:bodyPr/>
          <a:lstStyle/>
          <a:p>
            <a:endParaRPr lang="en-US" sz="4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CardHdr35">
            <a:extLst>
              <a:ext uri="{FF2B5EF4-FFF2-40B4-BE49-F238E27FC236}">
                <a16:creationId xmlns:a16="http://schemas.microsoft.com/office/drawing/2014/main" id="{31B12F7E-7B05-7522-B0F6-2302C53CF944}"/>
              </a:ext>
            </a:extLst>
          </p:cNvPr>
          <p:cNvSpPr/>
          <p:nvPr/>
        </p:nvSpPr>
        <p:spPr>
          <a:xfrm>
            <a:off x="7823044" y="2079919"/>
            <a:ext cx="3122554" cy="319196"/>
          </a:xfrm>
          <a:prstGeom prst="rect">
            <a:avLst/>
          </a:prstGeom>
          <a:solidFill>
            <a:srgbClr val="047954"/>
          </a:solidFill>
          <a:ln/>
        </p:spPr>
        <p:txBody>
          <a:bodyPr/>
          <a:lstStyle/>
          <a:p>
            <a:endPara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dNum3">
            <a:extLst>
              <a:ext uri="{FF2B5EF4-FFF2-40B4-BE49-F238E27FC236}">
                <a16:creationId xmlns:a16="http://schemas.microsoft.com/office/drawing/2014/main" id="{2BF8CB34-FE02-BA80-1A39-AD8FA9DF56F6}"/>
              </a:ext>
            </a:extLst>
          </p:cNvPr>
          <p:cNvSpPr/>
          <p:nvPr/>
        </p:nvSpPr>
        <p:spPr>
          <a:xfrm>
            <a:off x="7823044" y="2079919"/>
            <a:ext cx="3122554" cy="31919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03</a:t>
            </a:r>
            <a:endParaRPr lang="en-US" sz="2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dTitle3">
            <a:extLst>
              <a:ext uri="{FF2B5EF4-FFF2-40B4-BE49-F238E27FC236}">
                <a16:creationId xmlns:a16="http://schemas.microsoft.com/office/drawing/2014/main" id="{9DD0310B-DF58-C341-AC38-DBE7D1102181}"/>
              </a:ext>
            </a:extLst>
          </p:cNvPr>
          <p:cNvSpPr/>
          <p:nvPr/>
        </p:nvSpPr>
        <p:spPr>
          <a:xfrm>
            <a:off x="7863044" y="2359918"/>
            <a:ext cx="2938874" cy="38303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4795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 Dashboard</a:t>
            </a:r>
          </a:p>
        </p:txBody>
      </p:sp>
      <p:sp>
        <p:nvSpPr>
          <p:cNvPr id="43" name="dDesc3">
            <a:extLst>
              <a:ext uri="{FF2B5EF4-FFF2-40B4-BE49-F238E27FC236}">
                <a16:creationId xmlns:a16="http://schemas.microsoft.com/office/drawing/2014/main" id="{8705E8F9-C6BF-0E88-0831-143D5627F97B}"/>
              </a:ext>
            </a:extLst>
          </p:cNvPr>
          <p:cNvSpPr/>
          <p:nvPr/>
        </p:nvSpPr>
        <p:spPr>
          <a:xfrm>
            <a:off x="7863043" y="2742952"/>
            <a:ext cx="2938874" cy="58732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11-page .pbix file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 Schema model</a:t>
            </a:r>
          </a:p>
        </p:txBody>
      </p:sp>
      <p:sp>
        <p:nvSpPr>
          <p:cNvPr id="44" name="CardBg40">
            <a:extLst>
              <a:ext uri="{FF2B5EF4-FFF2-40B4-BE49-F238E27FC236}">
                <a16:creationId xmlns:a16="http://schemas.microsoft.com/office/drawing/2014/main" id="{1DF74D99-62E8-1079-52C5-EA0C6AA0225C}"/>
              </a:ext>
            </a:extLst>
          </p:cNvPr>
          <p:cNvSpPr/>
          <p:nvPr/>
        </p:nvSpPr>
        <p:spPr>
          <a:xfrm>
            <a:off x="817483" y="3940413"/>
            <a:ext cx="3122555" cy="1623645"/>
          </a:xfrm>
          <a:prstGeom prst="rect">
            <a:avLst/>
          </a:prstGeom>
          <a:solidFill>
            <a:srgbClr val="F4F9F7"/>
          </a:solidFill>
          <a:ln w="9525">
            <a:solidFill>
              <a:srgbClr val="0FAB7D"/>
            </a:solidFill>
          </a:ln>
        </p:spPr>
        <p:txBody>
          <a:bodyPr/>
          <a:lstStyle/>
          <a:p>
            <a:endParaRPr lang="en-US" sz="4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CardHdr40">
            <a:extLst>
              <a:ext uri="{FF2B5EF4-FFF2-40B4-BE49-F238E27FC236}">
                <a16:creationId xmlns:a16="http://schemas.microsoft.com/office/drawing/2014/main" id="{193C6F0A-440F-9B48-C97C-0B390B9933E8}"/>
              </a:ext>
            </a:extLst>
          </p:cNvPr>
          <p:cNvSpPr/>
          <p:nvPr/>
        </p:nvSpPr>
        <p:spPr>
          <a:xfrm>
            <a:off x="817483" y="3940414"/>
            <a:ext cx="3122555" cy="319196"/>
          </a:xfrm>
          <a:prstGeom prst="rect">
            <a:avLst/>
          </a:prstGeom>
          <a:solidFill>
            <a:srgbClr val="0FAB7D"/>
          </a:solidFill>
          <a:ln/>
        </p:spPr>
        <p:txBody>
          <a:bodyPr/>
          <a:lstStyle/>
          <a:p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dNum4">
            <a:extLst>
              <a:ext uri="{FF2B5EF4-FFF2-40B4-BE49-F238E27FC236}">
                <a16:creationId xmlns:a16="http://schemas.microsoft.com/office/drawing/2014/main" id="{66F04216-4190-785F-AF16-B06E6C473C7B}"/>
              </a:ext>
            </a:extLst>
          </p:cNvPr>
          <p:cNvSpPr/>
          <p:nvPr/>
        </p:nvSpPr>
        <p:spPr>
          <a:xfrm>
            <a:off x="817483" y="3940414"/>
            <a:ext cx="3122555" cy="31919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04</a:t>
            </a:r>
          </a:p>
        </p:txBody>
      </p:sp>
      <p:sp>
        <p:nvSpPr>
          <p:cNvPr id="47" name="dTitle4">
            <a:extLst>
              <a:ext uri="{FF2B5EF4-FFF2-40B4-BE49-F238E27FC236}">
                <a16:creationId xmlns:a16="http://schemas.microsoft.com/office/drawing/2014/main" id="{BC084C98-0FF9-D4BD-DD5E-0F6331362908}"/>
              </a:ext>
            </a:extLst>
          </p:cNvPr>
          <p:cNvSpPr/>
          <p:nvPr/>
        </p:nvSpPr>
        <p:spPr>
          <a:xfrm>
            <a:off x="857483" y="4220413"/>
            <a:ext cx="2938875" cy="38303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AB7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Documentation</a:t>
            </a:r>
          </a:p>
        </p:txBody>
      </p:sp>
      <p:sp>
        <p:nvSpPr>
          <p:cNvPr id="48" name="dDesc4">
            <a:extLst>
              <a:ext uri="{FF2B5EF4-FFF2-40B4-BE49-F238E27FC236}">
                <a16:creationId xmlns:a16="http://schemas.microsoft.com/office/drawing/2014/main" id="{3DCEA360-4738-EF3C-E450-E1779795CE3B}"/>
              </a:ext>
            </a:extLst>
          </p:cNvPr>
          <p:cNvSpPr/>
          <p:nvPr/>
        </p:nvSpPr>
        <p:spPr>
          <a:xfrm>
            <a:off x="857483" y="4589786"/>
            <a:ext cx="2938875" cy="58732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Full project report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architecture &amp; pipeline</a:t>
            </a:r>
          </a:p>
        </p:txBody>
      </p:sp>
      <p:sp>
        <p:nvSpPr>
          <p:cNvPr id="49" name="CardBg45">
            <a:extLst>
              <a:ext uri="{FF2B5EF4-FFF2-40B4-BE49-F238E27FC236}">
                <a16:creationId xmlns:a16="http://schemas.microsoft.com/office/drawing/2014/main" id="{097B6554-5360-6670-03D5-461CC0967963}"/>
              </a:ext>
            </a:extLst>
          </p:cNvPr>
          <p:cNvSpPr/>
          <p:nvPr/>
        </p:nvSpPr>
        <p:spPr>
          <a:xfrm>
            <a:off x="4288915" y="3940413"/>
            <a:ext cx="3122553" cy="1623645"/>
          </a:xfrm>
          <a:prstGeom prst="rect">
            <a:avLst/>
          </a:prstGeom>
          <a:solidFill>
            <a:srgbClr val="F4F9F7"/>
          </a:solidFill>
          <a:ln w="9525">
            <a:solidFill>
              <a:srgbClr val="336EA8"/>
            </a:solidFill>
          </a:ln>
        </p:spPr>
        <p:txBody>
          <a:bodyPr/>
          <a:lstStyle/>
          <a:p>
            <a:endParaRPr lang="en-US" sz="4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CardHdr45">
            <a:extLst>
              <a:ext uri="{FF2B5EF4-FFF2-40B4-BE49-F238E27FC236}">
                <a16:creationId xmlns:a16="http://schemas.microsoft.com/office/drawing/2014/main" id="{B596C6E3-D0B2-C429-0CE3-5CD8EFB8D714}"/>
              </a:ext>
            </a:extLst>
          </p:cNvPr>
          <p:cNvSpPr/>
          <p:nvPr/>
        </p:nvSpPr>
        <p:spPr>
          <a:xfrm>
            <a:off x="4288915" y="3940414"/>
            <a:ext cx="3122553" cy="319196"/>
          </a:xfrm>
          <a:prstGeom prst="rect">
            <a:avLst/>
          </a:prstGeom>
          <a:solidFill>
            <a:srgbClr val="336EA8"/>
          </a:solidFill>
          <a:ln/>
        </p:spPr>
        <p:txBody>
          <a:bodyPr/>
          <a:lstStyle/>
          <a:p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dNum5">
            <a:extLst>
              <a:ext uri="{FF2B5EF4-FFF2-40B4-BE49-F238E27FC236}">
                <a16:creationId xmlns:a16="http://schemas.microsoft.com/office/drawing/2014/main" id="{47BED101-09E1-47E3-94BC-3192FC246009}"/>
              </a:ext>
            </a:extLst>
          </p:cNvPr>
          <p:cNvSpPr/>
          <p:nvPr/>
        </p:nvSpPr>
        <p:spPr>
          <a:xfrm>
            <a:off x="4288915" y="3940414"/>
            <a:ext cx="3122553" cy="31919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05</a:t>
            </a:r>
          </a:p>
        </p:txBody>
      </p:sp>
      <p:sp>
        <p:nvSpPr>
          <p:cNvPr id="52" name="dTitle5">
            <a:extLst>
              <a:ext uri="{FF2B5EF4-FFF2-40B4-BE49-F238E27FC236}">
                <a16:creationId xmlns:a16="http://schemas.microsoft.com/office/drawing/2014/main" id="{ED46DB02-B938-CC57-79B9-B073F5DF9D67}"/>
              </a:ext>
            </a:extLst>
          </p:cNvPr>
          <p:cNvSpPr/>
          <p:nvPr/>
        </p:nvSpPr>
        <p:spPr>
          <a:xfrm>
            <a:off x="4328915" y="4220413"/>
            <a:ext cx="2938873" cy="38303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36EA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Presentation</a:t>
            </a:r>
          </a:p>
        </p:txBody>
      </p:sp>
      <p:sp>
        <p:nvSpPr>
          <p:cNvPr id="53" name="dDesc5">
            <a:extLst>
              <a:ext uri="{FF2B5EF4-FFF2-40B4-BE49-F238E27FC236}">
                <a16:creationId xmlns:a16="http://schemas.microsoft.com/office/drawing/2014/main" id="{92ACFB8B-E879-3C1D-73D7-587E97E110A7}"/>
              </a:ext>
            </a:extLst>
          </p:cNvPr>
          <p:cNvSpPr/>
          <p:nvPr/>
        </p:nvSpPr>
        <p:spPr>
          <a:xfrm>
            <a:off x="4328915" y="4589785"/>
            <a:ext cx="2938873" cy="58732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Slide deck covering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 project phases</a:t>
            </a:r>
          </a:p>
        </p:txBody>
      </p:sp>
      <p:sp>
        <p:nvSpPr>
          <p:cNvPr id="54" name="CardBg50">
            <a:extLst>
              <a:ext uri="{FF2B5EF4-FFF2-40B4-BE49-F238E27FC236}">
                <a16:creationId xmlns:a16="http://schemas.microsoft.com/office/drawing/2014/main" id="{A47EEC9E-87FE-1C7D-7CA9-BD0BA15DB75E}"/>
              </a:ext>
            </a:extLst>
          </p:cNvPr>
          <p:cNvSpPr/>
          <p:nvPr/>
        </p:nvSpPr>
        <p:spPr>
          <a:xfrm>
            <a:off x="7823043" y="3940413"/>
            <a:ext cx="3122553" cy="1623645"/>
          </a:xfrm>
          <a:prstGeom prst="rect">
            <a:avLst/>
          </a:prstGeom>
          <a:solidFill>
            <a:srgbClr val="F4F9F7"/>
          </a:solidFill>
          <a:ln w="9525">
            <a:solidFill>
              <a:srgbClr val="D7B119"/>
            </a:solidFill>
          </a:ln>
        </p:spPr>
        <p:txBody>
          <a:bodyPr/>
          <a:lstStyle/>
          <a:p>
            <a:endParaRPr lang="en-US" sz="40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CardHdr50">
            <a:extLst>
              <a:ext uri="{FF2B5EF4-FFF2-40B4-BE49-F238E27FC236}">
                <a16:creationId xmlns:a16="http://schemas.microsoft.com/office/drawing/2014/main" id="{1B41BB17-0C01-8BBC-4A75-8D4EB0EC0F14}"/>
              </a:ext>
            </a:extLst>
          </p:cNvPr>
          <p:cNvSpPr/>
          <p:nvPr/>
        </p:nvSpPr>
        <p:spPr>
          <a:xfrm>
            <a:off x="7823043" y="3940414"/>
            <a:ext cx="3122553" cy="319196"/>
          </a:xfrm>
          <a:prstGeom prst="rect">
            <a:avLst/>
          </a:prstGeom>
          <a:solidFill>
            <a:srgbClr val="D7B119"/>
          </a:solidFill>
          <a:ln/>
        </p:spPr>
        <p:txBody>
          <a:bodyPr/>
          <a:lstStyle/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dNum6">
            <a:extLst>
              <a:ext uri="{FF2B5EF4-FFF2-40B4-BE49-F238E27FC236}">
                <a16:creationId xmlns:a16="http://schemas.microsoft.com/office/drawing/2014/main" id="{4D92D7BA-F32A-DB0C-A341-5BAE48533983}"/>
              </a:ext>
            </a:extLst>
          </p:cNvPr>
          <p:cNvSpPr/>
          <p:nvPr/>
        </p:nvSpPr>
        <p:spPr>
          <a:xfrm>
            <a:off x="7823043" y="3940414"/>
            <a:ext cx="3122553" cy="319196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06</a:t>
            </a:r>
          </a:p>
        </p:txBody>
      </p:sp>
      <p:sp>
        <p:nvSpPr>
          <p:cNvPr id="57" name="dTitle6">
            <a:extLst>
              <a:ext uri="{FF2B5EF4-FFF2-40B4-BE49-F238E27FC236}">
                <a16:creationId xmlns:a16="http://schemas.microsoft.com/office/drawing/2014/main" id="{650223A4-9E21-9B57-3CC7-26CB05A11D92}"/>
              </a:ext>
            </a:extLst>
          </p:cNvPr>
          <p:cNvSpPr/>
          <p:nvPr/>
        </p:nvSpPr>
        <p:spPr>
          <a:xfrm>
            <a:off x="7863043" y="4220413"/>
            <a:ext cx="2938873" cy="383035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7B11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PBIX File</a:t>
            </a:r>
          </a:p>
        </p:txBody>
      </p:sp>
      <p:sp>
        <p:nvSpPr>
          <p:cNvPr id="58" name="dDesc6">
            <a:extLst>
              <a:ext uri="{FF2B5EF4-FFF2-40B4-BE49-F238E27FC236}">
                <a16:creationId xmlns:a16="http://schemas.microsoft.com/office/drawing/2014/main" id="{2D312EB0-93E6-A52B-56B3-BB4C83E2A44C}"/>
              </a:ext>
            </a:extLst>
          </p:cNvPr>
          <p:cNvSpPr/>
          <p:nvPr/>
        </p:nvSpPr>
        <p:spPr>
          <a:xfrm>
            <a:off x="7863043" y="4589784"/>
            <a:ext cx="2938873" cy="58732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 file with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5A5A5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DAX measures &amp; pages</a:t>
            </a:r>
          </a:p>
        </p:txBody>
      </p:sp>
      <p:pic>
        <p:nvPicPr>
          <p:cNvPr id="80" name="Google Shape;110;p1">
            <a:extLst>
              <a:ext uri="{FF2B5EF4-FFF2-40B4-BE49-F238E27FC236}">
                <a16:creationId xmlns:a16="http://schemas.microsoft.com/office/drawing/2014/main" id="{D96EA6BE-CAC3-6DD1-A662-EFC52348E5AA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40D378-AE00-65BD-D5A2-F91FE0BF5EA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Text 49">
            <a:extLst>
              <a:ext uri="{FF2B5EF4-FFF2-40B4-BE49-F238E27FC236}">
                <a16:creationId xmlns:a16="http://schemas.microsoft.com/office/drawing/2014/main" id="{893DB3E4-8547-57D3-360D-DE3D541B2234}"/>
              </a:ext>
            </a:extLst>
          </p:cNvPr>
          <p:cNvSpPr/>
          <p:nvPr/>
        </p:nvSpPr>
        <p:spPr>
          <a:xfrm>
            <a:off x="1056298" y="6356350"/>
            <a:ext cx="2296502" cy="365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ar-EG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</a:t>
            </a:r>
            <a:r>
              <a:rPr lang="en-US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/07/2026</a:t>
            </a:r>
          </a:p>
        </p:txBody>
      </p:sp>
    </p:spTree>
    <p:extLst>
      <p:ext uri="{BB962C8B-B14F-4D97-AF65-F5344CB8AC3E}">
        <p14:creationId xmlns:p14="http://schemas.microsoft.com/office/powerpoint/2010/main" val="804209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10;p1">
            <a:extLst>
              <a:ext uri="{FF2B5EF4-FFF2-40B4-BE49-F238E27FC236}">
                <a16:creationId xmlns:a16="http://schemas.microsoft.com/office/drawing/2014/main" id="{44F396FB-6327-4C9B-3D2D-23BBAEFBA6C7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81EFB2AB-F209-52A3-0DE8-34C7CC1A6A91}"/>
              </a:ext>
            </a:extLst>
          </p:cNvPr>
          <p:cNvSpPr/>
          <p:nvPr/>
        </p:nvSpPr>
        <p:spPr>
          <a:xfrm>
            <a:off x="11688775" y="635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CFC9858B-D25A-165A-3FE9-958EA7D85E28}"/>
              </a:ext>
            </a:extLst>
          </p:cNvPr>
          <p:cNvSpPr/>
          <p:nvPr/>
        </p:nvSpPr>
        <p:spPr>
          <a:xfrm>
            <a:off x="320040" y="1051560"/>
            <a:ext cx="115516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 &amp; Roles</a:t>
            </a:r>
            <a:endParaRPr lang="en-US" sz="30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53C6AE95-890C-74F9-1CA1-3B009824DEE4}"/>
              </a:ext>
            </a:extLst>
          </p:cNvPr>
          <p:cNvSpPr/>
          <p:nvPr/>
        </p:nvSpPr>
        <p:spPr>
          <a:xfrm>
            <a:off x="338328" y="1645920"/>
            <a:ext cx="822960" cy="54864"/>
          </a:xfrm>
          <a:prstGeom prst="rect">
            <a:avLst/>
          </a:prstGeom>
          <a:solidFill>
            <a:srgbClr val="D7B119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3D388D2F-1210-86E4-39B6-AB7D54F0D5C0}"/>
              </a:ext>
            </a:extLst>
          </p:cNvPr>
          <p:cNvSpPr/>
          <p:nvPr/>
        </p:nvSpPr>
        <p:spPr>
          <a:xfrm>
            <a:off x="320040" y="1883664"/>
            <a:ext cx="2716454" cy="1244764"/>
          </a:xfrm>
          <a:prstGeom prst="roundRect">
            <a:avLst>
              <a:gd name="adj" fmla="val 3137"/>
            </a:avLst>
          </a:prstGeom>
          <a:solidFill>
            <a:srgbClr val="F4F9F7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125DAD90-2A92-4CBB-93ED-EA48ED9A4695}"/>
              </a:ext>
            </a:extLst>
          </p:cNvPr>
          <p:cNvSpPr/>
          <p:nvPr/>
        </p:nvSpPr>
        <p:spPr>
          <a:xfrm>
            <a:off x="457200" y="2201518"/>
            <a:ext cx="2442134" cy="31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Khlood Ahmed</a:t>
            </a:r>
            <a:endParaRPr lang="en-US" sz="125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CE47C41B-1889-52B5-6AF0-9A7E75442FC6}"/>
              </a:ext>
            </a:extLst>
          </p:cNvPr>
          <p:cNvSpPr/>
          <p:nvPr/>
        </p:nvSpPr>
        <p:spPr>
          <a:xfrm>
            <a:off x="457200" y="2568102"/>
            <a:ext cx="2442134" cy="382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Project Lead &amp;Documentation &amp; QA&amp; Figma &amp; Presentation</a:t>
            </a:r>
            <a:endParaRPr lang="en-US" sz="110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C2621140-DD14-7A9D-95A3-7A4EA49F4EA8}"/>
              </a:ext>
            </a:extLst>
          </p:cNvPr>
          <p:cNvSpPr/>
          <p:nvPr/>
        </p:nvSpPr>
        <p:spPr>
          <a:xfrm>
            <a:off x="3265094" y="1883664"/>
            <a:ext cx="2716454" cy="1244764"/>
          </a:xfrm>
          <a:prstGeom prst="roundRect">
            <a:avLst>
              <a:gd name="adj" fmla="val 3137"/>
            </a:avLst>
          </a:prstGeom>
          <a:solidFill>
            <a:srgbClr val="F4F9F7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C7E512DE-4951-31A8-97C5-4BA5F9E81464}"/>
              </a:ext>
            </a:extLst>
          </p:cNvPr>
          <p:cNvSpPr/>
          <p:nvPr/>
        </p:nvSpPr>
        <p:spPr>
          <a:xfrm>
            <a:off x="3364306" y="2187134"/>
            <a:ext cx="2442134" cy="31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Salma Mohamed</a:t>
            </a:r>
            <a:endParaRPr lang="en-US" sz="125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2D2B772C-8889-3EF5-4841-9A129C0F7112}"/>
              </a:ext>
            </a:extLst>
          </p:cNvPr>
          <p:cNvSpPr/>
          <p:nvPr/>
        </p:nvSpPr>
        <p:spPr>
          <a:xfrm>
            <a:off x="3364306" y="2505542"/>
            <a:ext cx="2442134" cy="382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Developer</a:t>
            </a:r>
            <a:endParaRPr lang="en-US" sz="1100" dirty="0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433422C7-45C0-13D0-C36F-63BE24B39110}"/>
              </a:ext>
            </a:extLst>
          </p:cNvPr>
          <p:cNvSpPr/>
          <p:nvPr/>
        </p:nvSpPr>
        <p:spPr>
          <a:xfrm>
            <a:off x="6210148" y="1883664"/>
            <a:ext cx="2716454" cy="1244764"/>
          </a:xfrm>
          <a:prstGeom prst="roundRect">
            <a:avLst>
              <a:gd name="adj" fmla="val 3137"/>
            </a:avLst>
          </a:prstGeom>
          <a:solidFill>
            <a:srgbClr val="F4F9F7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2C4FD67C-3B0C-86BA-AB11-DFFFC9C37885}"/>
              </a:ext>
            </a:extLst>
          </p:cNvPr>
          <p:cNvSpPr/>
          <p:nvPr/>
        </p:nvSpPr>
        <p:spPr>
          <a:xfrm>
            <a:off x="6347308" y="2186630"/>
            <a:ext cx="2442134" cy="31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Malak Tamer</a:t>
            </a:r>
            <a:endParaRPr lang="en-US" sz="1250" dirty="0"/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A19C9A7D-E2C2-5922-3CB4-45B0BC3A1102}"/>
              </a:ext>
            </a:extLst>
          </p:cNvPr>
          <p:cNvSpPr/>
          <p:nvPr/>
        </p:nvSpPr>
        <p:spPr>
          <a:xfrm>
            <a:off x="6347308" y="2523559"/>
            <a:ext cx="2442134" cy="382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QA&amp; Figma &amp; Presentation</a:t>
            </a:r>
            <a:endParaRPr lang="en-US" sz="1100" dirty="0"/>
          </a:p>
        </p:txBody>
      </p:sp>
      <p:sp>
        <p:nvSpPr>
          <p:cNvPr id="28" name="Shape 23">
            <a:extLst>
              <a:ext uri="{FF2B5EF4-FFF2-40B4-BE49-F238E27FC236}">
                <a16:creationId xmlns:a16="http://schemas.microsoft.com/office/drawing/2014/main" id="{21EF2F7F-6F99-DE6E-A398-54D83017FACA}"/>
              </a:ext>
            </a:extLst>
          </p:cNvPr>
          <p:cNvSpPr/>
          <p:nvPr/>
        </p:nvSpPr>
        <p:spPr>
          <a:xfrm>
            <a:off x="9155201" y="1883664"/>
            <a:ext cx="2716454" cy="1244764"/>
          </a:xfrm>
          <a:prstGeom prst="roundRect">
            <a:avLst>
              <a:gd name="adj" fmla="val 3137"/>
            </a:avLst>
          </a:prstGeom>
          <a:solidFill>
            <a:srgbClr val="F4F9F7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78BC52A6-09F5-4706-6A10-D441214993C1}"/>
              </a:ext>
            </a:extLst>
          </p:cNvPr>
          <p:cNvSpPr/>
          <p:nvPr/>
        </p:nvSpPr>
        <p:spPr>
          <a:xfrm>
            <a:off x="9278988" y="2196399"/>
            <a:ext cx="2442134" cy="31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Istabraq el </a:t>
            </a:r>
            <a:r>
              <a:rPr lang="en-US" sz="1250" b="1" dirty="0" err="1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gendy</a:t>
            </a:r>
            <a:endParaRPr lang="en-US" sz="1250" dirty="0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C5E39C81-9E1A-8804-B02F-18952016B6FF}"/>
              </a:ext>
            </a:extLst>
          </p:cNvPr>
          <p:cNvSpPr/>
          <p:nvPr/>
        </p:nvSpPr>
        <p:spPr>
          <a:xfrm>
            <a:off x="9292666" y="2523558"/>
            <a:ext cx="2442134" cy="382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Developer</a:t>
            </a:r>
            <a:endParaRPr lang="en-US" sz="1100" dirty="0"/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1DD7614C-0AAF-711C-C069-AAE25C533169}"/>
              </a:ext>
            </a:extLst>
          </p:cNvPr>
          <p:cNvSpPr/>
          <p:nvPr/>
        </p:nvSpPr>
        <p:spPr>
          <a:xfrm>
            <a:off x="320040" y="471365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Methods</a:t>
            </a:r>
            <a:endParaRPr lang="en-US" sz="1500" dirty="0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23F1BC94-294D-C984-00BE-B5164E362233}"/>
              </a:ext>
            </a:extLst>
          </p:cNvPr>
          <p:cNvSpPr/>
          <p:nvPr/>
        </p:nvSpPr>
        <p:spPr>
          <a:xfrm>
            <a:off x="320039" y="5147603"/>
            <a:ext cx="1155161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[Communication tool — e.g., Microsoft Teams / Google meet]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[Version control — e.g., GitHub / Google Drive]</a:t>
            </a:r>
            <a:endParaRPr lang="en-US" sz="1350" dirty="0"/>
          </a:p>
        </p:txBody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8C5F0702-2A09-3C54-6E32-45901ACA5316}"/>
              </a:ext>
            </a:extLst>
          </p:cNvPr>
          <p:cNvSpPr/>
          <p:nvPr/>
        </p:nvSpPr>
        <p:spPr>
          <a:xfrm>
            <a:off x="3265094" y="3354990"/>
            <a:ext cx="2716454" cy="1244764"/>
          </a:xfrm>
          <a:prstGeom prst="roundRect">
            <a:avLst>
              <a:gd name="adj" fmla="val 3137"/>
            </a:avLst>
          </a:prstGeom>
          <a:solidFill>
            <a:srgbClr val="F4F9F7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C1FF8542-AF0C-BE9A-CABA-421DF9834915}"/>
              </a:ext>
            </a:extLst>
          </p:cNvPr>
          <p:cNvSpPr/>
          <p:nvPr/>
        </p:nvSpPr>
        <p:spPr>
          <a:xfrm>
            <a:off x="3364306" y="3658460"/>
            <a:ext cx="2442134" cy="31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Hamza Bayoumi</a:t>
            </a:r>
            <a:endParaRPr lang="en-US" sz="1250" dirty="0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35A28977-17F1-AC84-564D-3131DE0A3227}"/>
              </a:ext>
            </a:extLst>
          </p:cNvPr>
          <p:cNvSpPr/>
          <p:nvPr/>
        </p:nvSpPr>
        <p:spPr>
          <a:xfrm>
            <a:off x="3364306" y="3976868"/>
            <a:ext cx="2442134" cy="382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100" dirty="0"/>
          </a:p>
        </p:txBody>
      </p:sp>
      <p:sp>
        <p:nvSpPr>
          <p:cNvPr id="38" name="Shape 18">
            <a:extLst>
              <a:ext uri="{FF2B5EF4-FFF2-40B4-BE49-F238E27FC236}">
                <a16:creationId xmlns:a16="http://schemas.microsoft.com/office/drawing/2014/main" id="{F821619A-86BC-86D8-8845-80C64F4511D1}"/>
              </a:ext>
            </a:extLst>
          </p:cNvPr>
          <p:cNvSpPr/>
          <p:nvPr/>
        </p:nvSpPr>
        <p:spPr>
          <a:xfrm>
            <a:off x="6210148" y="3354990"/>
            <a:ext cx="2716454" cy="1244764"/>
          </a:xfrm>
          <a:prstGeom prst="roundRect">
            <a:avLst>
              <a:gd name="adj" fmla="val 3137"/>
            </a:avLst>
          </a:prstGeom>
          <a:solidFill>
            <a:srgbClr val="F4F9F7"/>
          </a:solidFill>
          <a:ln/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F4404F49-0B93-203E-7794-8E2BC48B00F7}"/>
              </a:ext>
            </a:extLst>
          </p:cNvPr>
          <p:cNvSpPr/>
          <p:nvPr/>
        </p:nvSpPr>
        <p:spPr>
          <a:xfrm>
            <a:off x="6347308" y="3657956"/>
            <a:ext cx="2442134" cy="31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Hasan</a:t>
            </a:r>
            <a:endParaRPr lang="en-US" sz="1250" dirty="0"/>
          </a:p>
        </p:txBody>
      </p:sp>
      <p:sp>
        <p:nvSpPr>
          <p:cNvPr id="40" name="Text 22">
            <a:extLst>
              <a:ext uri="{FF2B5EF4-FFF2-40B4-BE49-F238E27FC236}">
                <a16:creationId xmlns:a16="http://schemas.microsoft.com/office/drawing/2014/main" id="{09FF4C16-448D-3187-4FA5-6C3AA174EB1B}"/>
              </a:ext>
            </a:extLst>
          </p:cNvPr>
          <p:cNvSpPr/>
          <p:nvPr/>
        </p:nvSpPr>
        <p:spPr>
          <a:xfrm>
            <a:off x="6347308" y="3994885"/>
            <a:ext cx="2442134" cy="382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100" dirty="0"/>
          </a:p>
        </p:txBody>
      </p:sp>
      <p:sp>
        <p:nvSpPr>
          <p:cNvPr id="2" name="Slide Number Placeholder 2">
            <a:extLst>
              <a:ext uri="{FF2B5EF4-FFF2-40B4-BE49-F238E27FC236}">
                <a16:creationId xmlns:a16="http://schemas.microsoft.com/office/drawing/2014/main" id="{32428A30-5DA4-A422-6960-E39A77C111A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Text 49">
            <a:extLst>
              <a:ext uri="{FF2B5EF4-FFF2-40B4-BE49-F238E27FC236}">
                <a16:creationId xmlns:a16="http://schemas.microsoft.com/office/drawing/2014/main" id="{40A14595-46B3-6669-7C86-4C33D686BB7E}"/>
              </a:ext>
            </a:extLst>
          </p:cNvPr>
          <p:cNvSpPr/>
          <p:nvPr/>
        </p:nvSpPr>
        <p:spPr>
          <a:xfrm>
            <a:off x="1056298" y="6356350"/>
            <a:ext cx="2296502" cy="365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ar-EG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</a:t>
            </a:r>
            <a:r>
              <a:rPr lang="en-US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/07/2026</a:t>
            </a:r>
          </a:p>
        </p:txBody>
      </p:sp>
    </p:spTree>
    <p:extLst>
      <p:ext uri="{BB962C8B-B14F-4D97-AF65-F5344CB8AC3E}">
        <p14:creationId xmlns:p14="http://schemas.microsoft.com/office/powerpoint/2010/main" val="390596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5510DD-031B-8A25-8D55-0AFF6BD349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62286A13-28A0-423E-0724-1F41B61D6323}"/>
              </a:ext>
            </a:extLst>
          </p:cNvPr>
          <p:cNvSpPr/>
          <p:nvPr/>
        </p:nvSpPr>
        <p:spPr>
          <a:xfrm>
            <a:off x="-1" y="2804654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7200" dirty="0">
              <a:solidFill>
                <a:srgbClr val="047954"/>
              </a:solidFill>
            </a:endParaRPr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1EE7FA40-2E34-485E-6C20-54571F1338E1}"/>
              </a:ext>
            </a:extLst>
          </p:cNvPr>
          <p:cNvSpPr/>
          <p:nvPr/>
        </p:nvSpPr>
        <p:spPr>
          <a:xfrm>
            <a:off x="4744817" y="3856215"/>
            <a:ext cx="2702057" cy="45719"/>
          </a:xfrm>
          <a:prstGeom prst="rect">
            <a:avLst/>
          </a:prstGeom>
          <a:solidFill>
            <a:srgbClr val="D7B119"/>
          </a:solidFill>
          <a:ln/>
        </p:spPr>
        <p:txBody>
          <a:bodyPr/>
          <a:lstStyle/>
          <a:p>
            <a:endParaRPr lang="en-GB">
              <a:solidFill>
                <a:srgbClr val="047954"/>
              </a:solidFill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113D1B8-4550-71A0-34B6-6533458F0E88}"/>
              </a:ext>
            </a:extLst>
          </p:cNvPr>
          <p:cNvSpPr/>
          <p:nvPr/>
        </p:nvSpPr>
        <p:spPr>
          <a:xfrm>
            <a:off x="0" y="4039095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are welcome</a:t>
            </a:r>
            <a:endParaRPr lang="en-US" sz="1600" dirty="0">
              <a:solidFill>
                <a:srgbClr val="047954"/>
              </a:solidFill>
            </a:endParaRPr>
          </a:p>
        </p:txBody>
      </p:sp>
      <p:pic>
        <p:nvPicPr>
          <p:cNvPr id="2" name="Google Shape;110;p1">
            <a:extLst>
              <a:ext uri="{FF2B5EF4-FFF2-40B4-BE49-F238E27FC236}">
                <a16:creationId xmlns:a16="http://schemas.microsoft.com/office/drawing/2014/main" id="{E4427D78-71DD-640B-5FA1-A6149242409D}"/>
              </a:ext>
            </a:extLst>
          </p:cNvPr>
          <p:cNvPicPr preferRelativeResize="0"/>
          <p:nvPr/>
        </p:nvPicPr>
        <p:blipFill>
          <a:blip r:embed="rId2"/>
          <a:srcRect/>
          <a:stretch/>
        </p:blipFill>
        <p:spPr>
          <a:xfrm>
            <a:off x="9010943" y="6291124"/>
            <a:ext cx="1362250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 49">
            <a:extLst>
              <a:ext uri="{FF2B5EF4-FFF2-40B4-BE49-F238E27FC236}">
                <a16:creationId xmlns:a16="http://schemas.microsoft.com/office/drawing/2014/main" id="{7F966670-06F4-19E3-D33C-EB371AA0F13C}"/>
              </a:ext>
            </a:extLst>
          </p:cNvPr>
          <p:cNvSpPr/>
          <p:nvPr/>
        </p:nvSpPr>
        <p:spPr>
          <a:xfrm>
            <a:off x="1056298" y="6356350"/>
            <a:ext cx="2296502" cy="365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ar-EG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</a:t>
            </a:r>
            <a:r>
              <a:rPr lang="en-US" sz="110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/07/2026</a:t>
            </a:r>
          </a:p>
        </p:txBody>
      </p:sp>
    </p:spTree>
    <p:extLst>
      <p:ext uri="{BB962C8B-B14F-4D97-AF65-F5344CB8AC3E}">
        <p14:creationId xmlns:p14="http://schemas.microsoft.com/office/powerpoint/2010/main" val="3700453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1019</TotalTime>
  <Words>1444</Words>
  <Application>Microsoft Office PowerPoint</Application>
  <PresentationFormat>Widescreen</PresentationFormat>
  <Paragraphs>273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SAMA</dc:creator>
  <cp:lastModifiedBy>Malak Tamer</cp:lastModifiedBy>
  <cp:revision>14</cp:revision>
  <dcterms:created xsi:type="dcterms:W3CDTF">2024-03-14T10:03:54Z</dcterms:created>
  <dcterms:modified xsi:type="dcterms:W3CDTF">2026-07-10T23:21:26Z</dcterms:modified>
</cp:coreProperties>
</file>